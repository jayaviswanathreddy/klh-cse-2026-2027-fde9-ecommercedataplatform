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6378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png"/><Relationship Id="rId5" Type="http://schemas.openxmlformats.org/officeDocument/2006/relationships/image" Target="../media/image12.pn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6" name="Text 3"/>
          <p:cNvSpPr txBox="1"/>
          <p:nvPr/>
        </p:nvSpPr>
        <p:spPr>
          <a:xfrm>
            <a:off x="1600200" y="502920"/>
            <a:ext cx="6400800" cy="320040"/>
          </a:xfrm>
          <a:prstGeom prst="rect">
            <a:avLst/>
          </a:prstGeom>
          <a:noFill/>
          <a:ln/>
        </p:spPr>
        <p:txBody>
          <a:bodyPr wrap="square" lIns="0" tIns="0" rIns="0" bIns="0" rtlCol="0" anchor="ctr"/>
          <a:lstStyle/>
          <a:p>
            <a:pPr marL="0" indent="0">
              <a:buNone/>
            </a:pPr>
            <a:endParaRPr lang="en-US" sz="1300" dirty="0"/>
          </a:p>
        </p:txBody>
      </p:sp>
      <p:sp>
        <p:nvSpPr>
          <p:cNvPr id="8" name="Text 5"/>
          <p:cNvSpPr txBox="1"/>
          <p:nvPr/>
        </p:nvSpPr>
        <p:spPr>
          <a:xfrm>
            <a:off x="822960" y="1600200"/>
            <a:ext cx="3657600" cy="365760"/>
          </a:xfrm>
          <a:prstGeom prst="rect">
            <a:avLst/>
          </a:prstGeom>
          <a:noFill/>
          <a:ln/>
        </p:spPr>
        <p:txBody>
          <a:bodyPr wrap="square" lIns="0" tIns="0" rIns="0" bIns="0" rtlCol="0" anchor="ctr"/>
          <a:lstStyle/>
          <a:p>
            <a:pPr marL="0" indent="0">
              <a:buNone/>
            </a:pPr>
            <a:r>
              <a:rPr lang="en-US" sz="1400" b="1" kern="0" spc="300" dirty="0">
                <a:solidFill>
                  <a:srgbClr val="FF8C00"/>
                </a:solidFill>
                <a:latin typeface="Calibri" pitchFamily="34" charset="0"/>
                <a:ea typeface="Calibri" pitchFamily="34" charset="-122"/>
                <a:cs typeface="Calibri" pitchFamily="34" charset="-120"/>
              </a:rPr>
              <a:t>REVIEW 2</a:t>
            </a:r>
            <a:endParaRPr lang="en-US" sz="1400" dirty="0"/>
          </a:p>
        </p:txBody>
      </p:sp>
      <p:sp>
        <p:nvSpPr>
          <p:cNvPr id="9" name="Text 6"/>
          <p:cNvSpPr txBox="1"/>
          <p:nvPr/>
        </p:nvSpPr>
        <p:spPr>
          <a:xfrm>
            <a:off x="804672" y="1965960"/>
            <a:ext cx="10241280" cy="15544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Enterprise-Scale Real-Time</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E-Commerce Data Platform</a:t>
            </a:r>
            <a:endParaRPr lang="en-US" sz="4000" dirty="0"/>
          </a:p>
        </p:txBody>
      </p:sp>
      <p:sp>
        <p:nvSpPr>
          <p:cNvPr id="10" name="Shape 7"/>
          <p:cNvSpPr/>
          <p:nvPr/>
        </p:nvSpPr>
        <p:spPr>
          <a:xfrm>
            <a:off x="841248" y="3611880"/>
            <a:ext cx="2194560" cy="0"/>
          </a:xfrm>
          <a:prstGeom prst="line">
            <a:avLst/>
          </a:prstGeom>
          <a:noFill/>
          <a:ln w="38100">
            <a:solidFill>
              <a:srgbClr val="FF8C00"/>
            </a:solidFill>
            <a:prstDash val="solid"/>
          </a:ln>
        </p:spPr>
      </p:sp>
      <p:sp>
        <p:nvSpPr>
          <p:cNvPr id="11" name="Text 8"/>
          <p:cNvSpPr txBox="1"/>
          <p:nvPr/>
        </p:nvSpPr>
        <p:spPr>
          <a:xfrm>
            <a:off x="822960" y="3794760"/>
            <a:ext cx="7315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Fundamentals of Data Engineering  –  24DEA3101R</a:t>
            </a:r>
            <a:endParaRPr lang="en-US" sz="1500" dirty="0"/>
          </a:p>
        </p:txBody>
      </p:sp>
      <p:sp>
        <p:nvSpPr>
          <p:cNvPr id="12" name="Text 9"/>
          <p:cNvSpPr txBox="1"/>
          <p:nvPr/>
        </p:nvSpPr>
        <p:spPr>
          <a:xfrm>
            <a:off x="822960" y="4160520"/>
            <a:ext cx="7315200" cy="320040"/>
          </a:xfrm>
          <a:prstGeom prst="rect">
            <a:avLst/>
          </a:prstGeom>
          <a:noFill/>
          <a:ln/>
        </p:spPr>
        <p:txBody>
          <a:bodyPr wrap="square" lIns="0" tIns="0" rIns="0" bIns="0" rtlCol="0" anchor="ctr"/>
          <a:lstStyle/>
          <a:p>
            <a:pPr marL="0" indent="0">
              <a:buNone/>
            </a:pPr>
            <a:r>
              <a:rPr lang="en-US" sz="1300" dirty="0">
                <a:solidFill>
                  <a:srgbClr val="8DA9C4"/>
                </a:solidFill>
                <a:latin typeface="Calibri" pitchFamily="34" charset="0"/>
                <a:ea typeface="Calibri" pitchFamily="34" charset="-122"/>
                <a:cs typeface="Calibri" pitchFamily="34" charset="-120"/>
              </a:rPr>
              <a:t>Team No: 9      |      Section: 7</a:t>
            </a:r>
            <a:endParaRPr lang="en-US" sz="1300" dirty="0"/>
          </a:p>
        </p:txBody>
      </p:sp>
      <p:sp>
        <p:nvSpPr>
          <p:cNvPr id="13" name="Shape 10"/>
          <p:cNvSpPr/>
          <p:nvPr/>
        </p:nvSpPr>
        <p:spPr>
          <a:xfrm>
            <a:off x="822960" y="4663440"/>
            <a:ext cx="6720840" cy="1417320"/>
          </a:xfrm>
          <a:prstGeom prst="roundRect">
            <a:avLst>
              <a:gd name="adj" fmla="val 5161"/>
            </a:avLst>
          </a:prstGeom>
          <a:solidFill>
            <a:srgbClr val="13315C"/>
          </a:solidFill>
          <a:ln w="12700">
            <a:solidFill>
              <a:srgbClr val="23406B"/>
            </a:solidFill>
            <a:prstDash val="solid"/>
          </a:ln>
        </p:spPr>
      </p:sp>
      <p:sp>
        <p:nvSpPr>
          <p:cNvPr id="14" name="Text 11"/>
          <p:cNvSpPr txBox="1"/>
          <p:nvPr/>
        </p:nvSpPr>
        <p:spPr>
          <a:xfrm>
            <a:off x="1051560" y="4800600"/>
            <a:ext cx="3657600" cy="256032"/>
          </a:xfrm>
          <a:prstGeom prst="rect">
            <a:avLst/>
          </a:prstGeom>
          <a:noFill/>
          <a:ln/>
        </p:spPr>
        <p:txBody>
          <a:bodyPr wrap="square" lIns="0" tIns="0" rIns="0" bIns="0" rtlCol="0" anchor="ctr"/>
          <a:lstStyle/>
          <a:p>
            <a:pPr marL="0" indent="0">
              <a:buNone/>
            </a:pPr>
            <a:r>
              <a:rPr lang="en-US" sz="1050" b="1" kern="0" spc="150" dirty="0">
                <a:solidFill>
                  <a:srgbClr val="FF8C00"/>
                </a:solidFill>
                <a:latin typeface="Calibri" pitchFamily="34" charset="0"/>
                <a:ea typeface="Calibri" pitchFamily="34" charset="-122"/>
                <a:cs typeface="Calibri" pitchFamily="34" charset="-120"/>
              </a:rPr>
              <a:t>SUBMITTED BY</a:t>
            </a:r>
            <a:endParaRPr lang="en-US" sz="1050" dirty="0"/>
          </a:p>
        </p:txBody>
      </p:sp>
      <p:sp>
        <p:nvSpPr>
          <p:cNvPr id="15" name="Text 12"/>
          <p:cNvSpPr txBox="1"/>
          <p:nvPr/>
        </p:nvSpPr>
        <p:spPr>
          <a:xfrm>
            <a:off x="1051560" y="5120640"/>
            <a:ext cx="32918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 Viswanath Reddy</a:t>
            </a:r>
            <a:endParaRPr lang="en-US" sz="1250" dirty="0"/>
          </a:p>
        </p:txBody>
      </p:sp>
      <p:sp>
        <p:nvSpPr>
          <p:cNvPr id="16" name="Text 13"/>
          <p:cNvSpPr txBox="1"/>
          <p:nvPr/>
        </p:nvSpPr>
        <p:spPr>
          <a:xfrm>
            <a:off x="4480560" y="5120640"/>
            <a:ext cx="2834640" cy="274320"/>
          </a:xfrm>
          <a:prstGeom prst="rect">
            <a:avLst/>
          </a:prstGeom>
          <a:noFill/>
          <a:ln/>
        </p:spPr>
        <p:txBody>
          <a:bodyPr wrap="square" lIns="0" tIns="0" rIns="0" bIns="0" rtlCol="0" anchor="ctr"/>
          <a:lstStyle/>
          <a:p>
            <a:pPr marL="0" indent="0" algn="r">
              <a:buNone/>
            </a:pPr>
            <a:r>
              <a:rPr lang="en-US" sz="1250" dirty="0">
                <a:solidFill>
                  <a:srgbClr val="8DA9C4"/>
                </a:solidFill>
                <a:latin typeface="Calibri" pitchFamily="34" charset="0"/>
                <a:ea typeface="Calibri" pitchFamily="34" charset="-122"/>
                <a:cs typeface="Calibri" pitchFamily="34" charset="-120"/>
              </a:rPr>
              <a:t>2420030478</a:t>
            </a:r>
            <a:endParaRPr lang="en-US" sz="1250" dirty="0"/>
          </a:p>
        </p:txBody>
      </p:sp>
      <p:sp>
        <p:nvSpPr>
          <p:cNvPr id="17" name="Text 14"/>
          <p:cNvSpPr txBox="1"/>
          <p:nvPr/>
        </p:nvSpPr>
        <p:spPr>
          <a:xfrm>
            <a:off x="1051560" y="5422392"/>
            <a:ext cx="32918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Siril Punna</a:t>
            </a:r>
            <a:endParaRPr lang="en-US" sz="1250" dirty="0"/>
          </a:p>
        </p:txBody>
      </p:sp>
      <p:sp>
        <p:nvSpPr>
          <p:cNvPr id="18" name="Text 15"/>
          <p:cNvSpPr txBox="1"/>
          <p:nvPr/>
        </p:nvSpPr>
        <p:spPr>
          <a:xfrm>
            <a:off x="4480560" y="5422392"/>
            <a:ext cx="2834640" cy="274320"/>
          </a:xfrm>
          <a:prstGeom prst="rect">
            <a:avLst/>
          </a:prstGeom>
          <a:noFill/>
          <a:ln/>
        </p:spPr>
        <p:txBody>
          <a:bodyPr wrap="square" lIns="0" tIns="0" rIns="0" bIns="0" rtlCol="0" anchor="ctr"/>
          <a:lstStyle/>
          <a:p>
            <a:pPr marL="0" indent="0" algn="r">
              <a:buNone/>
            </a:pPr>
            <a:r>
              <a:rPr lang="en-US" sz="1250" dirty="0">
                <a:solidFill>
                  <a:srgbClr val="8DA9C4"/>
                </a:solidFill>
                <a:latin typeface="Calibri" pitchFamily="34" charset="0"/>
                <a:ea typeface="Calibri" pitchFamily="34" charset="-122"/>
                <a:cs typeface="Calibri" pitchFamily="34" charset="-120"/>
              </a:rPr>
              <a:t>2420030300</a:t>
            </a:r>
            <a:endParaRPr lang="en-US" sz="1250" dirty="0"/>
          </a:p>
        </p:txBody>
      </p:sp>
      <p:sp>
        <p:nvSpPr>
          <p:cNvPr id="19" name="Text 16"/>
          <p:cNvSpPr txBox="1"/>
          <p:nvPr/>
        </p:nvSpPr>
        <p:spPr>
          <a:xfrm>
            <a:off x="1051560" y="5724144"/>
            <a:ext cx="329184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 Kamal Kumar</a:t>
            </a:r>
            <a:endParaRPr lang="en-US" sz="1250" dirty="0"/>
          </a:p>
        </p:txBody>
      </p:sp>
      <p:sp>
        <p:nvSpPr>
          <p:cNvPr id="20" name="Text 17"/>
          <p:cNvSpPr txBox="1"/>
          <p:nvPr/>
        </p:nvSpPr>
        <p:spPr>
          <a:xfrm>
            <a:off x="4480560" y="5724144"/>
            <a:ext cx="2834640" cy="274320"/>
          </a:xfrm>
          <a:prstGeom prst="rect">
            <a:avLst/>
          </a:prstGeom>
          <a:noFill/>
          <a:ln/>
        </p:spPr>
        <p:txBody>
          <a:bodyPr wrap="square" lIns="0" tIns="0" rIns="0" bIns="0" rtlCol="0" anchor="ctr"/>
          <a:lstStyle/>
          <a:p>
            <a:pPr marL="0" indent="0" algn="r">
              <a:buNone/>
            </a:pPr>
            <a:r>
              <a:rPr lang="en-US" sz="1250" dirty="0">
                <a:solidFill>
                  <a:srgbClr val="8DA9C4"/>
                </a:solidFill>
                <a:latin typeface="Calibri" pitchFamily="34" charset="0"/>
                <a:ea typeface="Calibri" pitchFamily="34" charset="-122"/>
                <a:cs typeface="Calibri" pitchFamily="34" charset="-120"/>
              </a:rPr>
              <a:t>2420030290</a:t>
            </a:r>
            <a:endParaRPr lang="en-US" sz="1250" dirty="0"/>
          </a:p>
        </p:txBody>
      </p:sp>
      <p:sp>
        <p:nvSpPr>
          <p:cNvPr id="21" name="Shape 18"/>
          <p:cNvSpPr/>
          <p:nvPr/>
        </p:nvSpPr>
        <p:spPr>
          <a:xfrm>
            <a:off x="7818120" y="4663440"/>
            <a:ext cx="3566160" cy="1417320"/>
          </a:xfrm>
          <a:prstGeom prst="roundRect">
            <a:avLst>
              <a:gd name="adj" fmla="val 5161"/>
            </a:avLst>
          </a:prstGeom>
          <a:solidFill>
            <a:srgbClr val="13315C"/>
          </a:solidFill>
          <a:ln w="12700">
            <a:solidFill>
              <a:srgbClr val="23406B"/>
            </a:solidFill>
            <a:prstDash val="solid"/>
          </a:ln>
        </p:spPr>
      </p:sp>
      <p:sp>
        <p:nvSpPr>
          <p:cNvPr id="22" name="Text 19"/>
          <p:cNvSpPr txBox="1"/>
          <p:nvPr/>
        </p:nvSpPr>
        <p:spPr>
          <a:xfrm>
            <a:off x="8046720" y="4800600"/>
            <a:ext cx="3108960" cy="256032"/>
          </a:xfrm>
          <a:prstGeom prst="rect">
            <a:avLst/>
          </a:prstGeom>
          <a:noFill/>
          <a:ln/>
        </p:spPr>
        <p:txBody>
          <a:bodyPr wrap="square" lIns="0" tIns="0" rIns="0" bIns="0" rtlCol="0" anchor="ctr"/>
          <a:lstStyle/>
          <a:p>
            <a:pPr marL="0" indent="0">
              <a:buNone/>
            </a:pPr>
            <a:r>
              <a:rPr lang="en-US" sz="1050" b="1" kern="0" spc="100" dirty="0">
                <a:solidFill>
                  <a:srgbClr val="FF8C00"/>
                </a:solidFill>
                <a:latin typeface="Calibri" pitchFamily="34" charset="0"/>
                <a:ea typeface="Calibri" pitchFamily="34" charset="-122"/>
                <a:cs typeface="Calibri" pitchFamily="34" charset="-120"/>
              </a:rPr>
              <a:t>UNDER THE GUIDANCE OF</a:t>
            </a:r>
            <a:endParaRPr lang="en-US" sz="1050" dirty="0"/>
          </a:p>
        </p:txBody>
      </p:sp>
      <p:sp>
        <p:nvSpPr>
          <p:cNvPr id="23" name="Text 20"/>
          <p:cNvSpPr txBox="1"/>
          <p:nvPr/>
        </p:nvSpPr>
        <p:spPr>
          <a:xfrm>
            <a:off x="8046720" y="5138928"/>
            <a:ext cx="31089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 N. Sirisha</a:t>
            </a:r>
            <a:endParaRPr lang="en-US" sz="1400" dirty="0"/>
          </a:p>
        </p:txBody>
      </p:sp>
      <p:sp>
        <p:nvSpPr>
          <p:cNvPr id="24" name="Text 21"/>
          <p:cNvSpPr txBox="1"/>
          <p:nvPr/>
        </p:nvSpPr>
        <p:spPr>
          <a:xfrm>
            <a:off x="8046720" y="5449824"/>
            <a:ext cx="3108960" cy="274320"/>
          </a:xfrm>
          <a:prstGeom prst="rect">
            <a:avLst/>
          </a:prstGeom>
          <a:noFill/>
          <a:ln/>
        </p:spPr>
        <p:txBody>
          <a:bodyPr wrap="square" lIns="0" tIns="0" rIns="0" bIns="0" rtlCol="0" anchor="ctr"/>
          <a:lstStyle/>
          <a:p>
            <a:pPr marL="0" indent="0">
              <a:buNone/>
            </a:pPr>
            <a:r>
              <a:rPr lang="en-US" sz="1150" dirty="0">
                <a:solidFill>
                  <a:srgbClr val="8DA9C4"/>
                </a:solidFill>
                <a:latin typeface="Calibri" pitchFamily="34" charset="0"/>
                <a:ea typeface="Calibri" pitchFamily="34" charset="-122"/>
                <a:cs typeface="Calibri" pitchFamily="34" charset="-120"/>
              </a:rPr>
              <a:t>Associate Professor</a:t>
            </a:r>
            <a:endParaRPr lang="en-US" sz="1150" dirty="0"/>
          </a:p>
        </p:txBody>
      </p:sp>
      <p:pic>
        <p:nvPicPr>
          <p:cNvPr id="26" name="Picture 25">
            <a:extLst>
              <a:ext uri="{FF2B5EF4-FFF2-40B4-BE49-F238E27FC236}">
                <a16:creationId xmlns:a16="http://schemas.microsoft.com/office/drawing/2014/main" id="{0F4B0639-56DE-0D3C-2D6A-D96F15CD77DA}"/>
              </a:ext>
            </a:extLst>
          </p:cNvPr>
          <p:cNvPicPr>
            <a:picLocks noChangeAspect="1"/>
          </p:cNvPicPr>
          <p:nvPr/>
        </p:nvPicPr>
        <p:blipFill>
          <a:blip r:embed="rId3"/>
          <a:stretch>
            <a:fillRect/>
          </a:stretch>
        </p:blipFill>
        <p:spPr>
          <a:xfrm>
            <a:off x="519432" y="333756"/>
            <a:ext cx="1354424" cy="8869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Project Abstract</a:t>
            </a:r>
            <a:endParaRPr lang="en-US" sz="3200" dirty="0"/>
          </a:p>
        </p:txBody>
      </p:sp>
      <p:sp>
        <p:nvSpPr>
          <p:cNvPr id="4" name="Shape 2"/>
          <p:cNvSpPr/>
          <p:nvPr/>
        </p:nvSpPr>
        <p:spPr>
          <a:xfrm>
            <a:off x="530352" y="1417320"/>
            <a:ext cx="11109960" cy="2331720"/>
          </a:xfrm>
          <a:prstGeom prst="roundRect">
            <a:avLst>
              <a:gd name="adj" fmla="val 2353"/>
            </a:avLst>
          </a:prstGeom>
          <a:solidFill>
            <a:srgbClr val="FFFFFF"/>
          </a:solidFill>
          <a:ln w="12700">
            <a:solidFill>
              <a:srgbClr val="E1E7ED"/>
            </a:solidFill>
            <a:prstDash val="solid"/>
          </a:ln>
        </p:spPr>
      </p:sp>
      <p:sp>
        <p:nvSpPr>
          <p:cNvPr id="5" name="Text 3"/>
          <p:cNvSpPr txBox="1"/>
          <p:nvPr/>
        </p:nvSpPr>
        <p:spPr>
          <a:xfrm>
            <a:off x="822960" y="1627632"/>
            <a:ext cx="10515600" cy="1920240"/>
          </a:xfrm>
          <a:prstGeom prst="rect">
            <a:avLst/>
          </a:prstGeom>
          <a:noFill/>
          <a:ln/>
        </p:spPr>
        <p:txBody>
          <a:bodyPr wrap="square" lIns="0" tIns="0" rIns="0" bIns="0" rtlCol="0" anchor="t"/>
          <a:lstStyle/>
          <a:p>
            <a:pPr marL="0" indent="0" algn="l">
              <a:lnSpc>
                <a:spcPct val="128000"/>
              </a:lnSpc>
              <a:buNone/>
            </a:pPr>
            <a:r>
              <a:rPr lang="en-US" sz="1450" dirty="0">
                <a:solidFill>
                  <a:srgbClr val="13293D"/>
                </a:solidFill>
                <a:latin typeface="Calibri" pitchFamily="34" charset="0"/>
                <a:ea typeface="Calibri" pitchFamily="34" charset="-122"/>
                <a:cs typeface="Calibri" pitchFamily="34" charset="-120"/>
              </a:rPr>
              <a:t>Modern e-commerce platforms generate massive, continuous streams of data from product views, orders, payments, inventory changes, and clickstream activity. Traditional batch systems struggle to turn this data into timely insight. This project builds a unified real-time and batch data platform: events are ingested through Apache Kafka, processed with Apache Spark Structured Streaming, and organized in a cloud data lake (Amazon S3) using a Bronze-Silver-Gold medallion architecture. Apache Airflow orchestrates batch workflows into a business-ready warehouse (Redshift/Snowflake), while Power BI and Tableau dashboards surface revenue, orders, conversion, and inventory metrics as they happen — all built with data quality, security, fault tolerance, and scalability in mind.</a:t>
            </a:r>
            <a:endParaRPr lang="en-US" sz="1450" dirty="0"/>
          </a:p>
        </p:txBody>
      </p:sp>
      <p:sp>
        <p:nvSpPr>
          <p:cNvPr id="6" name="Shape 4"/>
          <p:cNvSpPr/>
          <p:nvPr/>
        </p:nvSpPr>
        <p:spPr>
          <a:xfrm>
            <a:off x="530352" y="4114800"/>
            <a:ext cx="2606040" cy="1691640"/>
          </a:xfrm>
          <a:prstGeom prst="roundRect">
            <a:avLst>
              <a:gd name="adj" fmla="val 3784"/>
            </a:avLst>
          </a:prstGeom>
          <a:solidFill>
            <a:srgbClr val="FFFFFF"/>
          </a:solidFill>
          <a:ln w="12700">
            <a:solidFill>
              <a:srgbClr val="E1E7ED"/>
            </a:solidFill>
            <a:prstDash val="solid"/>
          </a:ln>
        </p:spPr>
      </p:sp>
      <p:sp>
        <p:nvSpPr>
          <p:cNvPr id="7" name="Shape 5"/>
          <p:cNvSpPr/>
          <p:nvPr/>
        </p:nvSpPr>
        <p:spPr>
          <a:xfrm>
            <a:off x="1513332" y="4343400"/>
            <a:ext cx="640080" cy="640080"/>
          </a:xfrm>
          <a:prstGeom prst="ellipse">
            <a:avLst/>
          </a:prstGeom>
          <a:solidFill>
            <a:srgbClr val="134074"/>
          </a:solidFill>
          <a:ln/>
        </p:spPr>
      </p:sp>
      <p:pic>
        <p:nvPicPr>
          <p:cNvPr id="8" name="Image 0" descr="/home/claude/icon_kafka.png"/>
          <p:cNvPicPr>
            <a:picLocks noChangeAspect="1"/>
          </p:cNvPicPr>
          <p:nvPr/>
        </p:nvPicPr>
        <p:blipFill>
          <a:blip r:embed="rId3"/>
          <a:stretch>
            <a:fillRect/>
          </a:stretch>
        </p:blipFill>
        <p:spPr>
          <a:xfrm>
            <a:off x="1673352" y="4503420"/>
            <a:ext cx="320040" cy="320040"/>
          </a:xfrm>
          <a:prstGeom prst="rect">
            <a:avLst/>
          </a:prstGeom>
        </p:spPr>
      </p:pic>
      <p:sp>
        <p:nvSpPr>
          <p:cNvPr id="9" name="Text 6"/>
          <p:cNvSpPr txBox="1"/>
          <p:nvPr/>
        </p:nvSpPr>
        <p:spPr>
          <a:xfrm>
            <a:off x="640080" y="5074920"/>
            <a:ext cx="2386584" cy="36576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Real-Time Ingestion</a:t>
            </a:r>
            <a:endParaRPr lang="en-US" sz="1300" dirty="0"/>
          </a:p>
        </p:txBody>
      </p:sp>
      <p:sp>
        <p:nvSpPr>
          <p:cNvPr id="10" name="Text 7"/>
          <p:cNvSpPr txBox="1"/>
          <p:nvPr/>
        </p:nvSpPr>
        <p:spPr>
          <a:xfrm>
            <a:off x="640080" y="5413248"/>
            <a:ext cx="2386584" cy="320040"/>
          </a:xfrm>
          <a:prstGeom prst="rect">
            <a:avLst/>
          </a:prstGeom>
          <a:noFill/>
          <a:ln/>
        </p:spPr>
        <p:txBody>
          <a:bodyPr wrap="square" lIns="0" tIns="0" rIns="0" bIns="0" rtlCol="0" anchor="ctr"/>
          <a:lstStyle/>
          <a:p>
            <a:pPr marL="0" indent="0" algn="ctr">
              <a:buNone/>
            </a:pPr>
            <a:r>
              <a:rPr lang="en-US" sz="1050" dirty="0">
                <a:solidFill>
                  <a:srgbClr val="5B6B79"/>
                </a:solidFill>
                <a:latin typeface="Calibri" pitchFamily="34" charset="0"/>
                <a:ea typeface="Calibri" pitchFamily="34" charset="-122"/>
                <a:cs typeface="Calibri" pitchFamily="34" charset="-120"/>
              </a:rPr>
              <a:t>Apache Kafka</a:t>
            </a:r>
            <a:endParaRPr lang="en-US" sz="1050" dirty="0"/>
          </a:p>
        </p:txBody>
      </p:sp>
      <p:sp>
        <p:nvSpPr>
          <p:cNvPr id="11" name="Shape 8"/>
          <p:cNvSpPr/>
          <p:nvPr/>
        </p:nvSpPr>
        <p:spPr>
          <a:xfrm>
            <a:off x="3337560" y="4114800"/>
            <a:ext cx="2606040" cy="1691640"/>
          </a:xfrm>
          <a:prstGeom prst="roundRect">
            <a:avLst>
              <a:gd name="adj" fmla="val 3784"/>
            </a:avLst>
          </a:prstGeom>
          <a:solidFill>
            <a:srgbClr val="FFFFFF"/>
          </a:solidFill>
          <a:ln w="12700">
            <a:solidFill>
              <a:srgbClr val="E1E7ED"/>
            </a:solidFill>
            <a:prstDash val="solid"/>
          </a:ln>
        </p:spPr>
      </p:sp>
      <p:sp>
        <p:nvSpPr>
          <p:cNvPr id="12" name="Shape 9"/>
          <p:cNvSpPr/>
          <p:nvPr/>
        </p:nvSpPr>
        <p:spPr>
          <a:xfrm>
            <a:off x="4320540" y="4343400"/>
            <a:ext cx="640080" cy="640080"/>
          </a:xfrm>
          <a:prstGeom prst="ellipse">
            <a:avLst/>
          </a:prstGeom>
          <a:solidFill>
            <a:srgbClr val="134074"/>
          </a:solidFill>
          <a:ln/>
        </p:spPr>
      </p:sp>
      <p:pic>
        <p:nvPicPr>
          <p:cNvPr id="13" name="Image 1" descr="/home/claude/icon_spark.png"/>
          <p:cNvPicPr>
            <a:picLocks noChangeAspect="1"/>
          </p:cNvPicPr>
          <p:nvPr/>
        </p:nvPicPr>
        <p:blipFill>
          <a:blip r:embed="rId4"/>
          <a:stretch>
            <a:fillRect/>
          </a:stretch>
        </p:blipFill>
        <p:spPr>
          <a:xfrm>
            <a:off x="4480560" y="4503420"/>
            <a:ext cx="320040" cy="320040"/>
          </a:xfrm>
          <a:prstGeom prst="rect">
            <a:avLst/>
          </a:prstGeom>
        </p:spPr>
      </p:pic>
      <p:sp>
        <p:nvSpPr>
          <p:cNvPr id="14" name="Text 10"/>
          <p:cNvSpPr txBox="1"/>
          <p:nvPr/>
        </p:nvSpPr>
        <p:spPr>
          <a:xfrm>
            <a:off x="3447288" y="5074920"/>
            <a:ext cx="2386584" cy="36576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Stream Processing</a:t>
            </a:r>
            <a:endParaRPr lang="en-US" sz="1300" dirty="0"/>
          </a:p>
        </p:txBody>
      </p:sp>
      <p:sp>
        <p:nvSpPr>
          <p:cNvPr id="15" name="Text 11"/>
          <p:cNvSpPr txBox="1"/>
          <p:nvPr/>
        </p:nvSpPr>
        <p:spPr>
          <a:xfrm>
            <a:off x="3447288" y="5413248"/>
            <a:ext cx="2386584" cy="320040"/>
          </a:xfrm>
          <a:prstGeom prst="rect">
            <a:avLst/>
          </a:prstGeom>
          <a:noFill/>
          <a:ln/>
        </p:spPr>
        <p:txBody>
          <a:bodyPr wrap="square" lIns="0" tIns="0" rIns="0" bIns="0" rtlCol="0" anchor="ctr"/>
          <a:lstStyle/>
          <a:p>
            <a:pPr marL="0" indent="0" algn="ctr">
              <a:buNone/>
            </a:pPr>
            <a:r>
              <a:rPr lang="en-US" sz="1050" dirty="0">
                <a:solidFill>
                  <a:srgbClr val="5B6B79"/>
                </a:solidFill>
                <a:latin typeface="Calibri" pitchFamily="34" charset="0"/>
                <a:ea typeface="Calibri" pitchFamily="34" charset="-122"/>
                <a:cs typeface="Calibri" pitchFamily="34" charset="-120"/>
              </a:rPr>
              <a:t>Spark Structured Streaming</a:t>
            </a:r>
            <a:endParaRPr lang="en-US" sz="1050" dirty="0"/>
          </a:p>
        </p:txBody>
      </p:sp>
      <p:sp>
        <p:nvSpPr>
          <p:cNvPr id="16" name="Shape 12"/>
          <p:cNvSpPr/>
          <p:nvPr/>
        </p:nvSpPr>
        <p:spPr>
          <a:xfrm>
            <a:off x="6144768" y="4114800"/>
            <a:ext cx="2606040" cy="1691640"/>
          </a:xfrm>
          <a:prstGeom prst="roundRect">
            <a:avLst>
              <a:gd name="adj" fmla="val 3784"/>
            </a:avLst>
          </a:prstGeom>
          <a:solidFill>
            <a:srgbClr val="FFFFFF"/>
          </a:solidFill>
          <a:ln w="12700">
            <a:solidFill>
              <a:srgbClr val="E1E7ED"/>
            </a:solidFill>
            <a:prstDash val="solid"/>
          </a:ln>
        </p:spPr>
      </p:sp>
      <p:sp>
        <p:nvSpPr>
          <p:cNvPr id="17" name="Shape 13"/>
          <p:cNvSpPr/>
          <p:nvPr/>
        </p:nvSpPr>
        <p:spPr>
          <a:xfrm>
            <a:off x="7127748" y="4343400"/>
            <a:ext cx="640080" cy="640080"/>
          </a:xfrm>
          <a:prstGeom prst="ellipse">
            <a:avLst/>
          </a:prstGeom>
          <a:solidFill>
            <a:srgbClr val="134074"/>
          </a:solidFill>
          <a:ln/>
        </p:spPr>
      </p:sp>
      <p:pic>
        <p:nvPicPr>
          <p:cNvPr id="18" name="Image 2" descr="/home/claude/icon_layer.png"/>
          <p:cNvPicPr>
            <a:picLocks noChangeAspect="1"/>
          </p:cNvPicPr>
          <p:nvPr/>
        </p:nvPicPr>
        <p:blipFill>
          <a:blip r:embed="rId5"/>
          <a:stretch>
            <a:fillRect/>
          </a:stretch>
        </p:blipFill>
        <p:spPr>
          <a:xfrm>
            <a:off x="7287768" y="4503420"/>
            <a:ext cx="320040" cy="320040"/>
          </a:xfrm>
          <a:prstGeom prst="rect">
            <a:avLst/>
          </a:prstGeom>
        </p:spPr>
      </p:pic>
      <p:sp>
        <p:nvSpPr>
          <p:cNvPr id="19" name="Text 14"/>
          <p:cNvSpPr txBox="1"/>
          <p:nvPr/>
        </p:nvSpPr>
        <p:spPr>
          <a:xfrm>
            <a:off x="6254496" y="5074920"/>
            <a:ext cx="2386584" cy="36576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Medallion Lake</a:t>
            </a:r>
            <a:endParaRPr lang="en-US" sz="1300" dirty="0"/>
          </a:p>
        </p:txBody>
      </p:sp>
      <p:sp>
        <p:nvSpPr>
          <p:cNvPr id="20" name="Text 15"/>
          <p:cNvSpPr txBox="1"/>
          <p:nvPr/>
        </p:nvSpPr>
        <p:spPr>
          <a:xfrm>
            <a:off x="6254496" y="5413248"/>
            <a:ext cx="2386584" cy="320040"/>
          </a:xfrm>
          <a:prstGeom prst="rect">
            <a:avLst/>
          </a:prstGeom>
          <a:noFill/>
          <a:ln/>
        </p:spPr>
        <p:txBody>
          <a:bodyPr wrap="square" lIns="0" tIns="0" rIns="0" bIns="0" rtlCol="0" anchor="ctr"/>
          <a:lstStyle/>
          <a:p>
            <a:pPr marL="0" indent="0" algn="ctr">
              <a:buNone/>
            </a:pPr>
            <a:r>
              <a:rPr lang="en-US" sz="1050" dirty="0">
                <a:solidFill>
                  <a:srgbClr val="5B6B79"/>
                </a:solidFill>
                <a:latin typeface="Calibri" pitchFamily="34" charset="0"/>
                <a:ea typeface="Calibri" pitchFamily="34" charset="-122"/>
                <a:cs typeface="Calibri" pitchFamily="34" charset="-120"/>
              </a:rPr>
              <a:t>Bronze → Silver → Gold</a:t>
            </a:r>
            <a:endParaRPr lang="en-US" sz="1050" dirty="0"/>
          </a:p>
        </p:txBody>
      </p:sp>
      <p:sp>
        <p:nvSpPr>
          <p:cNvPr id="21" name="Shape 16"/>
          <p:cNvSpPr/>
          <p:nvPr/>
        </p:nvSpPr>
        <p:spPr>
          <a:xfrm>
            <a:off x="8951976" y="4114800"/>
            <a:ext cx="2606040" cy="1691640"/>
          </a:xfrm>
          <a:prstGeom prst="roundRect">
            <a:avLst>
              <a:gd name="adj" fmla="val 3784"/>
            </a:avLst>
          </a:prstGeom>
          <a:solidFill>
            <a:srgbClr val="FFFFFF"/>
          </a:solidFill>
          <a:ln w="12700">
            <a:solidFill>
              <a:srgbClr val="E1E7ED"/>
            </a:solidFill>
            <a:prstDash val="solid"/>
          </a:ln>
        </p:spPr>
      </p:sp>
      <p:sp>
        <p:nvSpPr>
          <p:cNvPr id="22" name="Shape 17"/>
          <p:cNvSpPr/>
          <p:nvPr/>
        </p:nvSpPr>
        <p:spPr>
          <a:xfrm>
            <a:off x="9934956" y="4343400"/>
            <a:ext cx="640080" cy="640080"/>
          </a:xfrm>
          <a:prstGeom prst="ellipse">
            <a:avLst/>
          </a:prstGeom>
          <a:solidFill>
            <a:srgbClr val="FF8C00"/>
          </a:solidFill>
          <a:ln/>
        </p:spPr>
      </p:sp>
      <p:pic>
        <p:nvPicPr>
          <p:cNvPr id="23" name="Image 3" descr="/home/claude/icon_chart.png"/>
          <p:cNvPicPr>
            <a:picLocks noChangeAspect="1"/>
          </p:cNvPicPr>
          <p:nvPr/>
        </p:nvPicPr>
        <p:blipFill>
          <a:blip r:embed="rId6"/>
          <a:stretch>
            <a:fillRect/>
          </a:stretch>
        </p:blipFill>
        <p:spPr>
          <a:xfrm>
            <a:off x="10094976" y="4503420"/>
            <a:ext cx="320040" cy="320040"/>
          </a:xfrm>
          <a:prstGeom prst="rect">
            <a:avLst/>
          </a:prstGeom>
        </p:spPr>
      </p:pic>
      <p:sp>
        <p:nvSpPr>
          <p:cNvPr id="24" name="Text 18"/>
          <p:cNvSpPr txBox="1"/>
          <p:nvPr/>
        </p:nvSpPr>
        <p:spPr>
          <a:xfrm>
            <a:off x="9061704" y="5074920"/>
            <a:ext cx="2386584" cy="36576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Live BI Dashboards</a:t>
            </a:r>
            <a:endParaRPr lang="en-US" sz="1300" dirty="0"/>
          </a:p>
        </p:txBody>
      </p:sp>
      <p:sp>
        <p:nvSpPr>
          <p:cNvPr id="25" name="Text 19"/>
          <p:cNvSpPr txBox="1"/>
          <p:nvPr/>
        </p:nvSpPr>
        <p:spPr>
          <a:xfrm>
            <a:off x="9061704" y="5413248"/>
            <a:ext cx="2386584" cy="320040"/>
          </a:xfrm>
          <a:prstGeom prst="rect">
            <a:avLst/>
          </a:prstGeom>
          <a:noFill/>
          <a:ln/>
        </p:spPr>
        <p:txBody>
          <a:bodyPr wrap="square" lIns="0" tIns="0" rIns="0" bIns="0" rtlCol="0" anchor="ctr"/>
          <a:lstStyle/>
          <a:p>
            <a:pPr marL="0" indent="0" algn="ctr">
              <a:buNone/>
            </a:pPr>
            <a:r>
              <a:rPr lang="en-US" sz="1050" dirty="0">
                <a:solidFill>
                  <a:srgbClr val="5B6B79"/>
                </a:solidFill>
                <a:latin typeface="Calibri" pitchFamily="34" charset="0"/>
                <a:ea typeface="Calibri" pitchFamily="34" charset="-122"/>
                <a:cs typeface="Calibri" pitchFamily="34" charset="-120"/>
              </a:rPr>
              <a:t>Power BI / Tableau</a:t>
            </a:r>
            <a:endParaRPr lang="en-US" sz="1050" dirty="0"/>
          </a:p>
        </p:txBody>
      </p:sp>
      <p:sp>
        <p:nvSpPr>
          <p:cNvPr id="26" name="Text 20"/>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27" name="Text 21"/>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pic>
        <p:nvPicPr>
          <p:cNvPr id="29" name="Picture 28">
            <a:extLst>
              <a:ext uri="{FF2B5EF4-FFF2-40B4-BE49-F238E27FC236}">
                <a16:creationId xmlns:a16="http://schemas.microsoft.com/office/drawing/2014/main" id="{9D1F63A5-1D39-760E-C3A7-E60D10DC6BA7}"/>
              </a:ext>
            </a:extLst>
          </p:cNvPr>
          <p:cNvPicPr>
            <a:picLocks noChangeAspect="1"/>
          </p:cNvPicPr>
          <p:nvPr/>
        </p:nvPicPr>
        <p:blipFill>
          <a:blip r:embed="rId7"/>
          <a:stretch>
            <a:fillRect/>
          </a:stretch>
        </p:blipFill>
        <p:spPr>
          <a:xfrm>
            <a:off x="10995895" y="250643"/>
            <a:ext cx="868210" cy="568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Introduction</a:t>
            </a:r>
            <a:endParaRPr lang="en-US" sz="3200" dirty="0"/>
          </a:p>
        </p:txBody>
      </p:sp>
      <p:sp>
        <p:nvSpPr>
          <p:cNvPr id="4" name="Shape 2"/>
          <p:cNvSpPr/>
          <p:nvPr/>
        </p:nvSpPr>
        <p:spPr>
          <a:xfrm>
            <a:off x="530352" y="1417320"/>
            <a:ext cx="6537960" cy="4709160"/>
          </a:xfrm>
          <a:prstGeom prst="roundRect">
            <a:avLst>
              <a:gd name="adj" fmla="val 1165"/>
            </a:avLst>
          </a:prstGeom>
          <a:solidFill>
            <a:srgbClr val="FFFFFF"/>
          </a:solidFill>
          <a:ln w="12700">
            <a:solidFill>
              <a:srgbClr val="E1E7ED"/>
            </a:solidFill>
            <a:prstDash val="solid"/>
          </a:ln>
        </p:spPr>
      </p:sp>
      <p:sp>
        <p:nvSpPr>
          <p:cNvPr id="5" name="Text 3"/>
          <p:cNvSpPr txBox="1"/>
          <p:nvPr/>
        </p:nvSpPr>
        <p:spPr>
          <a:xfrm>
            <a:off x="777240" y="1627632"/>
            <a:ext cx="6035040" cy="32004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The Problem</a:t>
            </a:r>
            <a:endParaRPr lang="en-US" sz="1500" dirty="0"/>
          </a:p>
        </p:txBody>
      </p:sp>
      <p:sp>
        <p:nvSpPr>
          <p:cNvPr id="6" name="Text 4"/>
          <p:cNvSpPr txBox="1"/>
          <p:nvPr/>
        </p:nvSpPr>
        <p:spPr>
          <a:xfrm>
            <a:off x="777240" y="2011680"/>
            <a:ext cx="6035040" cy="3977640"/>
          </a:xfrm>
          <a:prstGeom prst="rect">
            <a:avLst/>
          </a:prstGeom>
          <a:noFill/>
          <a:ln/>
        </p:spPr>
        <p:txBody>
          <a:bodyPr wrap="square" lIns="0" tIns="0" rIns="0" bIns="0" rtlCol="0" anchor="t"/>
          <a:lstStyle/>
          <a:p>
            <a:pPr marL="0" indent="0">
              <a:lnSpc>
                <a:spcPct val="125000"/>
              </a:lnSpc>
              <a:buNone/>
            </a:pPr>
            <a:r>
              <a:rPr lang="en-US" sz="1300" dirty="0">
                <a:solidFill>
                  <a:srgbClr val="13293D"/>
                </a:solidFill>
                <a:latin typeface="Calibri" pitchFamily="34" charset="0"/>
                <a:ea typeface="Calibri" pitchFamily="34" charset="-122"/>
                <a:cs typeface="Calibri" pitchFamily="34" charset="-120"/>
              </a:rPr>
              <a:t>Every interaction on an e-commerce platform — searches, clicks, cart activity, orders, payments, reviews, and inventory updates — generates data with real business value. Traditional pipelines rely on batch processing: data is collected and analyzed only at fixed intervals.</a:t>
            </a:r>
            <a:endParaRPr lang="en-US" sz="1300" dirty="0"/>
          </a:p>
          <a:p>
            <a:pPr marL="0" indent="0">
              <a:lnSpc>
                <a:spcPct val="125000"/>
              </a:lnSpc>
              <a:buNone/>
            </a:pPr>
            <a:endParaRPr lang="en-US" sz="1300" dirty="0"/>
          </a:p>
          <a:p>
            <a:pPr marL="0" indent="0">
              <a:lnSpc>
                <a:spcPct val="125000"/>
              </a:lnSpc>
              <a:buNone/>
            </a:pPr>
            <a:r>
              <a:rPr lang="en-US" sz="1300" dirty="0">
                <a:solidFill>
                  <a:srgbClr val="13293D"/>
                </a:solidFill>
                <a:latin typeface="Calibri" pitchFamily="34" charset="0"/>
                <a:ea typeface="Calibri" pitchFamily="34" charset="-122"/>
                <a:cs typeface="Calibri" pitchFamily="34" charset="-120"/>
              </a:rPr>
              <a:t>That works for historical reporting, but it cannot surface a sudden demand spike, a suspicious transaction, or a stock-out the moment it happens — businesses are left waiting for tomorrow's report to react to today's event.</a:t>
            </a:r>
            <a:endParaRPr lang="en-US" sz="1300" dirty="0"/>
          </a:p>
          <a:p>
            <a:pPr marL="0" indent="0">
              <a:lnSpc>
                <a:spcPct val="125000"/>
              </a:lnSpc>
              <a:buNone/>
            </a:pPr>
            <a:endParaRPr lang="en-US" sz="1300" dirty="0"/>
          </a:p>
          <a:p>
            <a:pPr marL="0" indent="0">
              <a:lnSpc>
                <a:spcPct val="125000"/>
              </a:lnSpc>
              <a:buNone/>
            </a:pPr>
            <a:r>
              <a:rPr lang="en-US" sz="1300" dirty="0">
                <a:solidFill>
                  <a:srgbClr val="13293D"/>
                </a:solidFill>
                <a:latin typeface="Calibri" pitchFamily="34" charset="0"/>
                <a:ea typeface="Calibri" pitchFamily="34" charset="-122"/>
                <a:cs typeface="Calibri" pitchFamily="34" charset="-120"/>
              </a:rPr>
              <a:t>This project addresses that gap by combining streaming and batch processing into one unified platform: Kafka and Spark Structured Streaming handle real-time events, while Airflow-orchestrated batch jobs keep the medallion data lake and warehouse consistent — giving both instant visibility and reliable historical analytics from the same pipeline.</a:t>
            </a:r>
            <a:endParaRPr lang="en-US" sz="1300" dirty="0"/>
          </a:p>
        </p:txBody>
      </p:sp>
      <p:sp>
        <p:nvSpPr>
          <p:cNvPr id="7" name="Shape 5"/>
          <p:cNvSpPr/>
          <p:nvPr/>
        </p:nvSpPr>
        <p:spPr>
          <a:xfrm>
            <a:off x="7269480" y="1417320"/>
            <a:ext cx="4370832" cy="4709160"/>
          </a:xfrm>
          <a:prstGeom prst="roundRect">
            <a:avLst>
              <a:gd name="adj" fmla="val 1255"/>
            </a:avLst>
          </a:prstGeom>
          <a:solidFill>
            <a:srgbClr val="0B2545"/>
          </a:solidFill>
          <a:ln/>
        </p:spPr>
      </p:sp>
      <p:sp>
        <p:nvSpPr>
          <p:cNvPr id="8" name="Text 6"/>
          <p:cNvSpPr txBox="1"/>
          <p:nvPr/>
        </p:nvSpPr>
        <p:spPr>
          <a:xfrm>
            <a:off x="7543800" y="1627632"/>
            <a:ext cx="3840480" cy="274320"/>
          </a:xfrm>
          <a:prstGeom prst="rect">
            <a:avLst/>
          </a:prstGeom>
          <a:noFill/>
          <a:ln/>
        </p:spPr>
        <p:txBody>
          <a:bodyPr wrap="square" lIns="0" tIns="0" rIns="0" bIns="0" rtlCol="0" anchor="ctr"/>
          <a:lstStyle/>
          <a:p>
            <a:pPr marL="0" indent="0">
              <a:buNone/>
            </a:pPr>
            <a:r>
              <a:rPr lang="en-US" sz="1100" b="1" kern="0" spc="120" dirty="0">
                <a:solidFill>
                  <a:srgbClr val="FF8C00"/>
                </a:solidFill>
                <a:latin typeface="Calibri" pitchFamily="34" charset="0"/>
                <a:ea typeface="Calibri" pitchFamily="34" charset="-122"/>
                <a:cs typeface="Calibri" pitchFamily="34" charset="-120"/>
              </a:rPr>
              <a:t>WHY REAL-TIME MATTERS</a:t>
            </a:r>
            <a:endParaRPr lang="en-US" sz="1100" dirty="0"/>
          </a:p>
        </p:txBody>
      </p:sp>
      <p:sp>
        <p:nvSpPr>
          <p:cNvPr id="9" name="Shape 7"/>
          <p:cNvSpPr/>
          <p:nvPr/>
        </p:nvSpPr>
        <p:spPr>
          <a:xfrm>
            <a:off x="7543800" y="2103120"/>
            <a:ext cx="566928" cy="566928"/>
          </a:xfrm>
          <a:prstGeom prst="ellipse">
            <a:avLst/>
          </a:prstGeom>
          <a:solidFill>
            <a:srgbClr val="FF8C00"/>
          </a:solidFill>
          <a:ln/>
        </p:spPr>
      </p:sp>
      <p:pic>
        <p:nvPicPr>
          <p:cNvPr id="10" name="Image 0" descr="/home/claude/icon_bolt.png"/>
          <p:cNvPicPr>
            <a:picLocks noChangeAspect="1"/>
          </p:cNvPicPr>
          <p:nvPr/>
        </p:nvPicPr>
        <p:blipFill>
          <a:blip r:embed="rId3"/>
          <a:stretch>
            <a:fillRect/>
          </a:stretch>
        </p:blipFill>
        <p:spPr>
          <a:xfrm>
            <a:off x="7679863" y="2239183"/>
            <a:ext cx="294803" cy="294803"/>
          </a:xfrm>
          <a:prstGeom prst="rect">
            <a:avLst/>
          </a:prstGeom>
        </p:spPr>
      </p:pic>
      <p:sp>
        <p:nvSpPr>
          <p:cNvPr id="11" name="Text 8"/>
          <p:cNvSpPr txBox="1"/>
          <p:nvPr/>
        </p:nvSpPr>
        <p:spPr>
          <a:xfrm>
            <a:off x="8275320" y="2084832"/>
            <a:ext cx="32004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Sudden Demand Spikes</a:t>
            </a:r>
            <a:endParaRPr lang="en-US" sz="1250" dirty="0"/>
          </a:p>
        </p:txBody>
      </p:sp>
      <p:sp>
        <p:nvSpPr>
          <p:cNvPr id="12" name="Text 9"/>
          <p:cNvSpPr txBox="1"/>
          <p:nvPr/>
        </p:nvSpPr>
        <p:spPr>
          <a:xfrm>
            <a:off x="8275320" y="2377440"/>
            <a:ext cx="3200400" cy="548640"/>
          </a:xfrm>
          <a:prstGeom prst="rect">
            <a:avLst/>
          </a:prstGeom>
          <a:noFill/>
          <a:ln/>
        </p:spPr>
        <p:txBody>
          <a:bodyPr wrap="square" lIns="0" tIns="0" rIns="0" bIns="0" rtlCol="0" anchor="ctr"/>
          <a:lstStyle/>
          <a:p>
            <a:pPr marL="0" indent="0">
              <a:lnSpc>
                <a:spcPct val="110000"/>
              </a:lnSpc>
              <a:buNone/>
            </a:pPr>
            <a:r>
              <a:rPr lang="en-US" sz="1050" dirty="0">
                <a:solidFill>
                  <a:srgbClr val="AEC2D6"/>
                </a:solidFill>
                <a:latin typeface="Calibri" pitchFamily="34" charset="0"/>
                <a:ea typeface="Calibri" pitchFamily="34" charset="-122"/>
                <a:cs typeface="Calibri" pitchFamily="34" charset="-120"/>
              </a:rPr>
              <a:t>Catch a surge in product demand as it happens, not the next day.</a:t>
            </a:r>
            <a:endParaRPr lang="en-US" sz="1050" dirty="0"/>
          </a:p>
        </p:txBody>
      </p:sp>
      <p:sp>
        <p:nvSpPr>
          <p:cNvPr id="13" name="Shape 10"/>
          <p:cNvSpPr/>
          <p:nvPr/>
        </p:nvSpPr>
        <p:spPr>
          <a:xfrm>
            <a:off x="7543800" y="3063240"/>
            <a:ext cx="566928" cy="566928"/>
          </a:xfrm>
          <a:prstGeom prst="ellipse">
            <a:avLst/>
          </a:prstGeom>
          <a:solidFill>
            <a:srgbClr val="FF8C00"/>
          </a:solidFill>
          <a:ln/>
        </p:spPr>
      </p:sp>
      <p:pic>
        <p:nvPicPr>
          <p:cNvPr id="14" name="Image 1" descr="/home/claude/icon_shield.png"/>
          <p:cNvPicPr>
            <a:picLocks noChangeAspect="1"/>
          </p:cNvPicPr>
          <p:nvPr/>
        </p:nvPicPr>
        <p:blipFill>
          <a:blip r:embed="rId4"/>
          <a:stretch>
            <a:fillRect/>
          </a:stretch>
        </p:blipFill>
        <p:spPr>
          <a:xfrm>
            <a:off x="7679863" y="3199303"/>
            <a:ext cx="294803" cy="294803"/>
          </a:xfrm>
          <a:prstGeom prst="rect">
            <a:avLst/>
          </a:prstGeom>
        </p:spPr>
      </p:pic>
      <p:sp>
        <p:nvSpPr>
          <p:cNvPr id="15" name="Text 11"/>
          <p:cNvSpPr txBox="1"/>
          <p:nvPr/>
        </p:nvSpPr>
        <p:spPr>
          <a:xfrm>
            <a:off x="8275320" y="3044952"/>
            <a:ext cx="32004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Fraud &amp; Anomaly Detection</a:t>
            </a:r>
            <a:endParaRPr lang="en-US" sz="1250" dirty="0"/>
          </a:p>
        </p:txBody>
      </p:sp>
      <p:sp>
        <p:nvSpPr>
          <p:cNvPr id="16" name="Text 12"/>
          <p:cNvSpPr txBox="1"/>
          <p:nvPr/>
        </p:nvSpPr>
        <p:spPr>
          <a:xfrm>
            <a:off x="8275320" y="3337560"/>
            <a:ext cx="3200400" cy="548640"/>
          </a:xfrm>
          <a:prstGeom prst="rect">
            <a:avLst/>
          </a:prstGeom>
          <a:noFill/>
          <a:ln/>
        </p:spPr>
        <p:txBody>
          <a:bodyPr wrap="square" lIns="0" tIns="0" rIns="0" bIns="0" rtlCol="0" anchor="ctr"/>
          <a:lstStyle/>
          <a:p>
            <a:pPr marL="0" indent="0">
              <a:lnSpc>
                <a:spcPct val="110000"/>
              </a:lnSpc>
              <a:buNone/>
            </a:pPr>
            <a:r>
              <a:rPr lang="en-US" sz="1050" dirty="0">
                <a:solidFill>
                  <a:srgbClr val="AEC2D6"/>
                </a:solidFill>
                <a:latin typeface="Calibri" pitchFamily="34" charset="0"/>
                <a:ea typeface="Calibri" pitchFamily="34" charset="-122"/>
                <a:cs typeface="Calibri" pitchFamily="34" charset="-120"/>
              </a:rPr>
              <a:t>Flag suspicious transactions in the moment they occur.</a:t>
            </a:r>
            <a:endParaRPr lang="en-US" sz="1050" dirty="0"/>
          </a:p>
        </p:txBody>
      </p:sp>
      <p:sp>
        <p:nvSpPr>
          <p:cNvPr id="17" name="Shape 13"/>
          <p:cNvSpPr/>
          <p:nvPr/>
        </p:nvSpPr>
        <p:spPr>
          <a:xfrm>
            <a:off x="7543800" y="4023360"/>
            <a:ext cx="566928" cy="566928"/>
          </a:xfrm>
          <a:prstGeom prst="ellipse">
            <a:avLst/>
          </a:prstGeom>
          <a:solidFill>
            <a:srgbClr val="FF8C00"/>
          </a:solidFill>
          <a:ln/>
        </p:spPr>
      </p:sp>
      <p:pic>
        <p:nvPicPr>
          <p:cNvPr id="18" name="Image 2" descr="/home/claude/icon_database.png"/>
          <p:cNvPicPr>
            <a:picLocks noChangeAspect="1"/>
          </p:cNvPicPr>
          <p:nvPr/>
        </p:nvPicPr>
        <p:blipFill>
          <a:blip r:embed="rId5"/>
          <a:stretch>
            <a:fillRect/>
          </a:stretch>
        </p:blipFill>
        <p:spPr>
          <a:xfrm>
            <a:off x="7679863" y="4159423"/>
            <a:ext cx="294803" cy="294803"/>
          </a:xfrm>
          <a:prstGeom prst="rect">
            <a:avLst/>
          </a:prstGeom>
        </p:spPr>
      </p:pic>
      <p:sp>
        <p:nvSpPr>
          <p:cNvPr id="19" name="Text 14"/>
          <p:cNvSpPr txBox="1"/>
          <p:nvPr/>
        </p:nvSpPr>
        <p:spPr>
          <a:xfrm>
            <a:off x="8275320" y="4005072"/>
            <a:ext cx="32004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Live Inventory Signals</a:t>
            </a:r>
            <a:endParaRPr lang="en-US" sz="1250" dirty="0"/>
          </a:p>
        </p:txBody>
      </p:sp>
      <p:sp>
        <p:nvSpPr>
          <p:cNvPr id="20" name="Text 15"/>
          <p:cNvSpPr txBox="1"/>
          <p:nvPr/>
        </p:nvSpPr>
        <p:spPr>
          <a:xfrm>
            <a:off x="8275320" y="4297680"/>
            <a:ext cx="3200400" cy="548640"/>
          </a:xfrm>
          <a:prstGeom prst="rect">
            <a:avLst/>
          </a:prstGeom>
          <a:noFill/>
          <a:ln/>
        </p:spPr>
        <p:txBody>
          <a:bodyPr wrap="square" lIns="0" tIns="0" rIns="0" bIns="0" rtlCol="0" anchor="ctr"/>
          <a:lstStyle/>
          <a:p>
            <a:pPr marL="0" indent="0">
              <a:lnSpc>
                <a:spcPct val="110000"/>
              </a:lnSpc>
              <a:buNone/>
            </a:pPr>
            <a:r>
              <a:rPr lang="en-US" sz="1050" dirty="0">
                <a:solidFill>
                  <a:srgbClr val="AEC2D6"/>
                </a:solidFill>
                <a:latin typeface="Calibri" pitchFamily="34" charset="0"/>
                <a:ea typeface="Calibri" pitchFamily="34" charset="-122"/>
                <a:cs typeface="Calibri" pitchFamily="34" charset="-120"/>
              </a:rPr>
              <a:t>Monitor stock levels continuously to avoid over-selling.</a:t>
            </a:r>
            <a:endParaRPr lang="en-US" sz="1050" dirty="0"/>
          </a:p>
        </p:txBody>
      </p:sp>
      <p:sp>
        <p:nvSpPr>
          <p:cNvPr id="21" name="Shape 16"/>
          <p:cNvSpPr/>
          <p:nvPr/>
        </p:nvSpPr>
        <p:spPr>
          <a:xfrm>
            <a:off x="7543800" y="4983480"/>
            <a:ext cx="566928" cy="566928"/>
          </a:xfrm>
          <a:prstGeom prst="ellipse">
            <a:avLst/>
          </a:prstGeom>
          <a:solidFill>
            <a:srgbClr val="FF8C00"/>
          </a:solidFill>
          <a:ln/>
        </p:spPr>
      </p:sp>
      <p:pic>
        <p:nvPicPr>
          <p:cNvPr id="22" name="Image 3" descr="/home/claude/icon_chart.png"/>
          <p:cNvPicPr>
            <a:picLocks noChangeAspect="1"/>
          </p:cNvPicPr>
          <p:nvPr/>
        </p:nvPicPr>
        <p:blipFill>
          <a:blip r:embed="rId6"/>
          <a:stretch>
            <a:fillRect/>
          </a:stretch>
        </p:blipFill>
        <p:spPr>
          <a:xfrm>
            <a:off x="7679863" y="5119543"/>
            <a:ext cx="294803" cy="294803"/>
          </a:xfrm>
          <a:prstGeom prst="rect">
            <a:avLst/>
          </a:prstGeom>
        </p:spPr>
      </p:pic>
      <p:sp>
        <p:nvSpPr>
          <p:cNvPr id="23" name="Text 17"/>
          <p:cNvSpPr txBox="1"/>
          <p:nvPr/>
        </p:nvSpPr>
        <p:spPr>
          <a:xfrm>
            <a:off x="8275320" y="4965192"/>
            <a:ext cx="32004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Faster Decisions</a:t>
            </a:r>
            <a:endParaRPr lang="en-US" sz="1250" dirty="0"/>
          </a:p>
        </p:txBody>
      </p:sp>
      <p:sp>
        <p:nvSpPr>
          <p:cNvPr id="24" name="Text 18"/>
          <p:cNvSpPr txBox="1"/>
          <p:nvPr/>
        </p:nvSpPr>
        <p:spPr>
          <a:xfrm>
            <a:off x="8275320" y="5257800"/>
            <a:ext cx="3200400" cy="548640"/>
          </a:xfrm>
          <a:prstGeom prst="rect">
            <a:avLst/>
          </a:prstGeom>
          <a:noFill/>
          <a:ln/>
        </p:spPr>
        <p:txBody>
          <a:bodyPr wrap="square" lIns="0" tIns="0" rIns="0" bIns="0" rtlCol="0" anchor="ctr"/>
          <a:lstStyle/>
          <a:p>
            <a:pPr marL="0" indent="0">
              <a:lnSpc>
                <a:spcPct val="110000"/>
              </a:lnSpc>
              <a:buNone/>
            </a:pPr>
            <a:r>
              <a:rPr lang="en-US" sz="1050" dirty="0">
                <a:solidFill>
                  <a:srgbClr val="AEC2D6"/>
                </a:solidFill>
                <a:latin typeface="Calibri" pitchFamily="34" charset="0"/>
                <a:ea typeface="Calibri" pitchFamily="34" charset="-122"/>
                <a:cs typeface="Calibri" pitchFamily="34" charset="-120"/>
              </a:rPr>
              <a:t>Give business teams metrics that reflect the current second.</a:t>
            </a:r>
            <a:endParaRPr lang="en-US" sz="1050" dirty="0"/>
          </a:p>
        </p:txBody>
      </p:sp>
      <p:sp>
        <p:nvSpPr>
          <p:cNvPr id="25" name="Text 19"/>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26" name="Text 20"/>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pic>
        <p:nvPicPr>
          <p:cNvPr id="28" name="Picture 27">
            <a:extLst>
              <a:ext uri="{FF2B5EF4-FFF2-40B4-BE49-F238E27FC236}">
                <a16:creationId xmlns:a16="http://schemas.microsoft.com/office/drawing/2014/main" id="{29187D56-25CF-918E-F5D4-A04A11AC1D39}"/>
              </a:ext>
            </a:extLst>
          </p:cNvPr>
          <p:cNvPicPr>
            <a:picLocks noChangeAspect="1"/>
          </p:cNvPicPr>
          <p:nvPr/>
        </p:nvPicPr>
        <p:blipFill>
          <a:blip r:embed="rId7"/>
          <a:stretch>
            <a:fillRect/>
          </a:stretch>
        </p:blipFill>
        <p:spPr>
          <a:xfrm>
            <a:off x="10995895" y="250643"/>
            <a:ext cx="868210" cy="568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30352" y="1463040"/>
            <a:ext cx="3611880" cy="1965960"/>
          </a:xfrm>
          <a:prstGeom prst="roundRect">
            <a:avLst>
              <a:gd name="adj" fmla="val 2791"/>
            </a:avLst>
          </a:prstGeom>
          <a:solidFill>
            <a:srgbClr val="FFFFFF"/>
          </a:solidFill>
          <a:ln w="12700">
            <a:solidFill>
              <a:srgbClr val="E1E7ED"/>
            </a:solidFill>
            <a:prstDash val="solid"/>
          </a:ln>
        </p:spPr>
      </p:sp>
      <p:sp>
        <p:nvSpPr>
          <p:cNvPr id="5" name="Shape 3"/>
          <p:cNvSpPr/>
          <p:nvPr/>
        </p:nvSpPr>
        <p:spPr>
          <a:xfrm>
            <a:off x="758952" y="1691640"/>
            <a:ext cx="530352" cy="530352"/>
          </a:xfrm>
          <a:prstGeom prst="ellipse">
            <a:avLst/>
          </a:prstGeom>
          <a:solidFill>
            <a:srgbClr val="134074"/>
          </a:solidFill>
          <a:ln/>
        </p:spPr>
      </p:sp>
      <p:pic>
        <p:nvPicPr>
          <p:cNvPr id="6" name="Image 0" descr="/home/claude/icon_diagram.png"/>
          <p:cNvPicPr>
            <a:picLocks noChangeAspect="1"/>
          </p:cNvPicPr>
          <p:nvPr/>
        </p:nvPicPr>
        <p:blipFill>
          <a:blip r:embed="rId3"/>
          <a:stretch>
            <a:fillRect/>
          </a:stretch>
        </p:blipFill>
        <p:spPr>
          <a:xfrm>
            <a:off x="886236" y="1818924"/>
            <a:ext cx="275783" cy="275783"/>
          </a:xfrm>
          <a:prstGeom prst="rect">
            <a:avLst/>
          </a:prstGeom>
        </p:spPr>
      </p:pic>
      <p:sp>
        <p:nvSpPr>
          <p:cNvPr id="7" name="Text 4"/>
          <p:cNvSpPr txBox="1"/>
          <p:nvPr/>
        </p:nvSpPr>
        <p:spPr>
          <a:xfrm>
            <a:off x="758952" y="233172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Unified Pipeline</a:t>
            </a:r>
            <a:endParaRPr lang="en-US" sz="1350" dirty="0"/>
          </a:p>
        </p:txBody>
      </p:sp>
      <p:sp>
        <p:nvSpPr>
          <p:cNvPr id="8" name="Text 5"/>
          <p:cNvSpPr txBox="1"/>
          <p:nvPr/>
        </p:nvSpPr>
        <p:spPr>
          <a:xfrm>
            <a:off x="758952" y="263347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Design one platform that combines real-time streaming and batch processing for enterprise e-commerce data.</a:t>
            </a:r>
            <a:endParaRPr lang="en-US" sz="1080" dirty="0"/>
          </a:p>
        </p:txBody>
      </p:sp>
      <p:sp>
        <p:nvSpPr>
          <p:cNvPr id="9" name="Shape 6"/>
          <p:cNvSpPr/>
          <p:nvPr/>
        </p:nvSpPr>
        <p:spPr>
          <a:xfrm>
            <a:off x="4279392" y="1463040"/>
            <a:ext cx="3611880" cy="1965960"/>
          </a:xfrm>
          <a:prstGeom prst="roundRect">
            <a:avLst>
              <a:gd name="adj" fmla="val 2791"/>
            </a:avLst>
          </a:prstGeom>
          <a:solidFill>
            <a:srgbClr val="FFFFFF"/>
          </a:solidFill>
          <a:ln w="12700">
            <a:solidFill>
              <a:srgbClr val="E1E7ED"/>
            </a:solidFill>
            <a:prstDash val="solid"/>
          </a:ln>
        </p:spPr>
      </p:sp>
      <p:sp>
        <p:nvSpPr>
          <p:cNvPr id="10" name="Shape 7"/>
          <p:cNvSpPr/>
          <p:nvPr/>
        </p:nvSpPr>
        <p:spPr>
          <a:xfrm>
            <a:off x="4507992" y="1691640"/>
            <a:ext cx="530352" cy="530352"/>
          </a:xfrm>
          <a:prstGeom prst="ellipse">
            <a:avLst/>
          </a:prstGeom>
          <a:solidFill>
            <a:srgbClr val="134074"/>
          </a:solidFill>
          <a:ln/>
        </p:spPr>
      </p:sp>
      <p:pic>
        <p:nvPicPr>
          <p:cNvPr id="11" name="Image 1" descr="/home/claude/icon_kafka.png"/>
          <p:cNvPicPr>
            <a:picLocks noChangeAspect="1"/>
          </p:cNvPicPr>
          <p:nvPr/>
        </p:nvPicPr>
        <p:blipFill>
          <a:blip r:embed="rId4"/>
          <a:stretch>
            <a:fillRect/>
          </a:stretch>
        </p:blipFill>
        <p:spPr>
          <a:xfrm>
            <a:off x="4635276" y="1818924"/>
            <a:ext cx="275783" cy="275783"/>
          </a:xfrm>
          <a:prstGeom prst="rect">
            <a:avLst/>
          </a:prstGeom>
        </p:spPr>
      </p:pic>
      <p:sp>
        <p:nvSpPr>
          <p:cNvPr id="12" name="Text 8"/>
          <p:cNvSpPr txBox="1"/>
          <p:nvPr/>
        </p:nvSpPr>
        <p:spPr>
          <a:xfrm>
            <a:off x="4507992" y="233172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Low-Latency Ingestion</a:t>
            </a:r>
            <a:endParaRPr lang="en-US" sz="1350" dirty="0"/>
          </a:p>
        </p:txBody>
      </p:sp>
      <p:sp>
        <p:nvSpPr>
          <p:cNvPr id="13" name="Text 9"/>
          <p:cNvSpPr txBox="1"/>
          <p:nvPr/>
        </p:nvSpPr>
        <p:spPr>
          <a:xfrm>
            <a:off x="4507992" y="263347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Ingest high-velocity events — clicks, orders, payments, inventory — through Apache Kafka with minimal delay.</a:t>
            </a:r>
            <a:endParaRPr lang="en-US" sz="1080" dirty="0"/>
          </a:p>
        </p:txBody>
      </p:sp>
      <p:sp>
        <p:nvSpPr>
          <p:cNvPr id="14" name="Shape 10"/>
          <p:cNvSpPr/>
          <p:nvPr/>
        </p:nvSpPr>
        <p:spPr>
          <a:xfrm>
            <a:off x="8028432" y="1463040"/>
            <a:ext cx="3611880" cy="1965960"/>
          </a:xfrm>
          <a:prstGeom prst="roundRect">
            <a:avLst>
              <a:gd name="adj" fmla="val 2791"/>
            </a:avLst>
          </a:prstGeom>
          <a:solidFill>
            <a:srgbClr val="FFFFFF"/>
          </a:solidFill>
          <a:ln w="12700">
            <a:solidFill>
              <a:srgbClr val="E1E7ED"/>
            </a:solidFill>
            <a:prstDash val="solid"/>
          </a:ln>
        </p:spPr>
      </p:sp>
      <p:sp>
        <p:nvSpPr>
          <p:cNvPr id="15" name="Shape 11"/>
          <p:cNvSpPr/>
          <p:nvPr/>
        </p:nvSpPr>
        <p:spPr>
          <a:xfrm>
            <a:off x="8257032" y="1691640"/>
            <a:ext cx="530352" cy="530352"/>
          </a:xfrm>
          <a:prstGeom prst="ellipse">
            <a:avLst/>
          </a:prstGeom>
          <a:solidFill>
            <a:srgbClr val="134074"/>
          </a:solidFill>
          <a:ln/>
        </p:spPr>
      </p:sp>
      <p:pic>
        <p:nvPicPr>
          <p:cNvPr id="16" name="Image 2" descr="/home/claude/icon_layer.png"/>
          <p:cNvPicPr>
            <a:picLocks noChangeAspect="1"/>
          </p:cNvPicPr>
          <p:nvPr/>
        </p:nvPicPr>
        <p:blipFill>
          <a:blip r:embed="rId5"/>
          <a:stretch>
            <a:fillRect/>
          </a:stretch>
        </p:blipFill>
        <p:spPr>
          <a:xfrm>
            <a:off x="8384316" y="1818924"/>
            <a:ext cx="275783" cy="275783"/>
          </a:xfrm>
          <a:prstGeom prst="rect">
            <a:avLst/>
          </a:prstGeom>
        </p:spPr>
      </p:pic>
      <p:sp>
        <p:nvSpPr>
          <p:cNvPr id="17" name="Text 12"/>
          <p:cNvSpPr txBox="1"/>
          <p:nvPr/>
        </p:nvSpPr>
        <p:spPr>
          <a:xfrm>
            <a:off x="8257032" y="233172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Medallion Data Lake</a:t>
            </a:r>
            <a:endParaRPr lang="en-US" sz="1350" dirty="0"/>
          </a:p>
        </p:txBody>
      </p:sp>
      <p:sp>
        <p:nvSpPr>
          <p:cNvPr id="18" name="Text 13"/>
          <p:cNvSpPr txBox="1"/>
          <p:nvPr/>
        </p:nvSpPr>
        <p:spPr>
          <a:xfrm>
            <a:off x="8257032" y="263347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Organize raw-to-refined data on Amazon S3 using a Bronze-Silver-Gold layered architecture.</a:t>
            </a:r>
            <a:endParaRPr lang="en-US" sz="1080" dirty="0"/>
          </a:p>
        </p:txBody>
      </p:sp>
      <p:sp>
        <p:nvSpPr>
          <p:cNvPr id="19" name="Shape 14"/>
          <p:cNvSpPr/>
          <p:nvPr/>
        </p:nvSpPr>
        <p:spPr>
          <a:xfrm>
            <a:off x="530352" y="3566160"/>
            <a:ext cx="3611880" cy="1965960"/>
          </a:xfrm>
          <a:prstGeom prst="roundRect">
            <a:avLst>
              <a:gd name="adj" fmla="val 2791"/>
            </a:avLst>
          </a:prstGeom>
          <a:solidFill>
            <a:srgbClr val="FFFFFF"/>
          </a:solidFill>
          <a:ln w="12700">
            <a:solidFill>
              <a:srgbClr val="E1E7ED"/>
            </a:solidFill>
            <a:prstDash val="solid"/>
          </a:ln>
        </p:spPr>
      </p:sp>
      <p:sp>
        <p:nvSpPr>
          <p:cNvPr id="20" name="Shape 15"/>
          <p:cNvSpPr/>
          <p:nvPr/>
        </p:nvSpPr>
        <p:spPr>
          <a:xfrm>
            <a:off x="758952" y="3794760"/>
            <a:ext cx="530352" cy="530352"/>
          </a:xfrm>
          <a:prstGeom prst="ellipse">
            <a:avLst/>
          </a:prstGeom>
          <a:solidFill>
            <a:srgbClr val="134074"/>
          </a:solidFill>
          <a:ln/>
        </p:spPr>
      </p:sp>
      <p:pic>
        <p:nvPicPr>
          <p:cNvPr id="21" name="Image 3" descr="/home/claude/icon_airflow.png"/>
          <p:cNvPicPr>
            <a:picLocks noChangeAspect="1"/>
          </p:cNvPicPr>
          <p:nvPr/>
        </p:nvPicPr>
        <p:blipFill>
          <a:blip r:embed="rId6"/>
          <a:stretch>
            <a:fillRect/>
          </a:stretch>
        </p:blipFill>
        <p:spPr>
          <a:xfrm>
            <a:off x="886236" y="3922044"/>
            <a:ext cx="275783" cy="275783"/>
          </a:xfrm>
          <a:prstGeom prst="rect">
            <a:avLst/>
          </a:prstGeom>
        </p:spPr>
      </p:pic>
      <p:sp>
        <p:nvSpPr>
          <p:cNvPr id="22" name="Text 16"/>
          <p:cNvSpPr txBox="1"/>
          <p:nvPr/>
        </p:nvSpPr>
        <p:spPr>
          <a:xfrm>
            <a:off x="758952" y="443484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Reliable Orchestration</a:t>
            </a:r>
            <a:endParaRPr lang="en-US" sz="1350" dirty="0"/>
          </a:p>
        </p:txBody>
      </p:sp>
      <p:sp>
        <p:nvSpPr>
          <p:cNvPr id="23" name="Text 17"/>
          <p:cNvSpPr txBox="1"/>
          <p:nvPr/>
        </p:nvSpPr>
        <p:spPr>
          <a:xfrm>
            <a:off x="758952" y="473659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Automate batch workflows with Apache Airflow into a business-ready Redshift/Snowflake warehouse.</a:t>
            </a:r>
            <a:endParaRPr lang="en-US" sz="1080" dirty="0"/>
          </a:p>
        </p:txBody>
      </p:sp>
      <p:sp>
        <p:nvSpPr>
          <p:cNvPr id="24" name="Shape 18"/>
          <p:cNvSpPr/>
          <p:nvPr/>
        </p:nvSpPr>
        <p:spPr>
          <a:xfrm>
            <a:off x="4279392" y="3566160"/>
            <a:ext cx="3611880" cy="1965960"/>
          </a:xfrm>
          <a:prstGeom prst="roundRect">
            <a:avLst>
              <a:gd name="adj" fmla="val 2791"/>
            </a:avLst>
          </a:prstGeom>
          <a:solidFill>
            <a:srgbClr val="FFFFFF"/>
          </a:solidFill>
          <a:ln w="12700">
            <a:solidFill>
              <a:srgbClr val="E1E7ED"/>
            </a:solidFill>
            <a:prstDash val="solid"/>
          </a:ln>
        </p:spPr>
      </p:sp>
      <p:sp>
        <p:nvSpPr>
          <p:cNvPr id="25" name="Shape 19"/>
          <p:cNvSpPr/>
          <p:nvPr/>
        </p:nvSpPr>
        <p:spPr>
          <a:xfrm>
            <a:off x="4507992" y="3794760"/>
            <a:ext cx="530352" cy="530352"/>
          </a:xfrm>
          <a:prstGeom prst="ellipse">
            <a:avLst/>
          </a:prstGeom>
          <a:solidFill>
            <a:srgbClr val="134074"/>
          </a:solidFill>
          <a:ln/>
        </p:spPr>
      </p:sp>
      <p:pic>
        <p:nvPicPr>
          <p:cNvPr id="26" name="Image 4" descr="/home/claude/icon_shield.png"/>
          <p:cNvPicPr>
            <a:picLocks noChangeAspect="1"/>
          </p:cNvPicPr>
          <p:nvPr/>
        </p:nvPicPr>
        <p:blipFill>
          <a:blip r:embed="rId7"/>
          <a:stretch>
            <a:fillRect/>
          </a:stretch>
        </p:blipFill>
        <p:spPr>
          <a:xfrm>
            <a:off x="4635276" y="3922044"/>
            <a:ext cx="275783" cy="275783"/>
          </a:xfrm>
          <a:prstGeom prst="rect">
            <a:avLst/>
          </a:prstGeom>
        </p:spPr>
      </p:pic>
      <p:sp>
        <p:nvSpPr>
          <p:cNvPr id="27" name="Text 20"/>
          <p:cNvSpPr txBox="1"/>
          <p:nvPr/>
        </p:nvSpPr>
        <p:spPr>
          <a:xfrm>
            <a:off x="4507992" y="443484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Enterprise Reliability</a:t>
            </a:r>
            <a:endParaRPr lang="en-US" sz="1350" dirty="0"/>
          </a:p>
        </p:txBody>
      </p:sp>
      <p:sp>
        <p:nvSpPr>
          <p:cNvPr id="28" name="Text 21"/>
          <p:cNvSpPr txBox="1"/>
          <p:nvPr/>
        </p:nvSpPr>
        <p:spPr>
          <a:xfrm>
            <a:off x="4507992" y="473659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Build in data quality checks, security, fault tolerance, and scalability across the platform.</a:t>
            </a:r>
            <a:endParaRPr lang="en-US" sz="1080" dirty="0"/>
          </a:p>
        </p:txBody>
      </p:sp>
      <p:sp>
        <p:nvSpPr>
          <p:cNvPr id="29" name="Shape 22"/>
          <p:cNvSpPr/>
          <p:nvPr/>
        </p:nvSpPr>
        <p:spPr>
          <a:xfrm>
            <a:off x="8028432" y="3566160"/>
            <a:ext cx="3611880" cy="1965960"/>
          </a:xfrm>
          <a:prstGeom prst="roundRect">
            <a:avLst>
              <a:gd name="adj" fmla="val 2791"/>
            </a:avLst>
          </a:prstGeom>
          <a:solidFill>
            <a:srgbClr val="FFFFFF"/>
          </a:solidFill>
          <a:ln w="12700">
            <a:solidFill>
              <a:srgbClr val="E1E7ED"/>
            </a:solidFill>
            <a:prstDash val="solid"/>
          </a:ln>
        </p:spPr>
      </p:sp>
      <p:sp>
        <p:nvSpPr>
          <p:cNvPr id="30" name="Shape 23"/>
          <p:cNvSpPr/>
          <p:nvPr/>
        </p:nvSpPr>
        <p:spPr>
          <a:xfrm>
            <a:off x="8257032" y="3794760"/>
            <a:ext cx="530352" cy="530352"/>
          </a:xfrm>
          <a:prstGeom prst="ellipse">
            <a:avLst/>
          </a:prstGeom>
          <a:solidFill>
            <a:srgbClr val="134074"/>
          </a:solidFill>
          <a:ln/>
        </p:spPr>
      </p:sp>
      <p:pic>
        <p:nvPicPr>
          <p:cNvPr id="31" name="Image 5" descr="/home/claude/icon_chart.png"/>
          <p:cNvPicPr>
            <a:picLocks noChangeAspect="1"/>
          </p:cNvPicPr>
          <p:nvPr/>
        </p:nvPicPr>
        <p:blipFill>
          <a:blip r:embed="rId8"/>
          <a:stretch>
            <a:fillRect/>
          </a:stretch>
        </p:blipFill>
        <p:spPr>
          <a:xfrm>
            <a:off x="8384316" y="3922044"/>
            <a:ext cx="275783" cy="275783"/>
          </a:xfrm>
          <a:prstGeom prst="rect">
            <a:avLst/>
          </a:prstGeom>
        </p:spPr>
      </p:pic>
      <p:sp>
        <p:nvSpPr>
          <p:cNvPr id="32" name="Text 24"/>
          <p:cNvSpPr txBox="1"/>
          <p:nvPr/>
        </p:nvSpPr>
        <p:spPr>
          <a:xfrm>
            <a:off x="8257032" y="4434840"/>
            <a:ext cx="3154680" cy="292608"/>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Real-Time BI</a:t>
            </a:r>
            <a:endParaRPr lang="en-US" sz="1350" dirty="0"/>
          </a:p>
        </p:txBody>
      </p:sp>
      <p:sp>
        <p:nvSpPr>
          <p:cNvPr id="33" name="Text 25"/>
          <p:cNvSpPr txBox="1"/>
          <p:nvPr/>
        </p:nvSpPr>
        <p:spPr>
          <a:xfrm>
            <a:off x="8257032" y="4736592"/>
            <a:ext cx="3154680" cy="731520"/>
          </a:xfrm>
          <a:prstGeom prst="rect">
            <a:avLst/>
          </a:prstGeom>
          <a:noFill/>
          <a:ln/>
        </p:spPr>
        <p:txBody>
          <a:bodyPr wrap="square" lIns="0" tIns="0" rIns="0" bIns="0" rtlCol="0" anchor="ctr"/>
          <a:lstStyle/>
          <a:p>
            <a:pPr marL="0" indent="0">
              <a:lnSpc>
                <a:spcPct val="115000"/>
              </a:lnSpc>
              <a:buNone/>
            </a:pPr>
            <a:r>
              <a:rPr lang="en-US" sz="1080" dirty="0">
                <a:solidFill>
                  <a:srgbClr val="5B6B79"/>
                </a:solidFill>
                <a:latin typeface="Calibri" pitchFamily="34" charset="0"/>
                <a:ea typeface="Calibri" pitchFamily="34" charset="-122"/>
                <a:cs typeface="Calibri" pitchFamily="34" charset="-120"/>
              </a:rPr>
              <a:t>Deliver Power BI / Tableau dashboards that turn live data into faster, data-driven decisions.</a:t>
            </a:r>
            <a:endParaRPr lang="en-US" sz="1080" dirty="0"/>
          </a:p>
        </p:txBody>
      </p:sp>
      <p:sp>
        <p:nvSpPr>
          <p:cNvPr id="34" name="Text 26"/>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35" name="Text 27"/>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pic>
        <p:nvPicPr>
          <p:cNvPr id="37" name="Picture 36">
            <a:extLst>
              <a:ext uri="{FF2B5EF4-FFF2-40B4-BE49-F238E27FC236}">
                <a16:creationId xmlns:a16="http://schemas.microsoft.com/office/drawing/2014/main" id="{6C7BBFC8-E829-164C-209C-5FE1D1179EF2}"/>
              </a:ext>
            </a:extLst>
          </p:cNvPr>
          <p:cNvPicPr>
            <a:picLocks noChangeAspect="1"/>
          </p:cNvPicPr>
          <p:nvPr/>
        </p:nvPicPr>
        <p:blipFill>
          <a:blip r:embed="rId9"/>
          <a:stretch>
            <a:fillRect/>
          </a:stretch>
        </p:blipFill>
        <p:spPr>
          <a:xfrm>
            <a:off x="10995895" y="250643"/>
            <a:ext cx="868210" cy="5685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Literature Survey</a:t>
            </a:r>
            <a:endParaRPr lang="en-US" sz="3200" dirty="0"/>
          </a:p>
        </p:txBody>
      </p:sp>
      <p:sp>
        <p:nvSpPr>
          <p:cNvPr id="4" name="Text 2"/>
          <p:cNvSpPr txBox="1"/>
          <p:nvPr/>
        </p:nvSpPr>
        <p:spPr>
          <a:xfrm>
            <a:off x="9692640" y="457200"/>
            <a:ext cx="2011680" cy="274320"/>
          </a:xfrm>
          <a:prstGeom prst="rect">
            <a:avLst/>
          </a:prstGeom>
          <a:noFill/>
          <a:ln/>
        </p:spPr>
        <p:txBody>
          <a:bodyPr wrap="square" lIns="0" tIns="0" rIns="0" bIns="0" rtlCol="0" anchor="ctr"/>
          <a:lstStyle/>
          <a:p>
            <a:pPr marL="0" indent="0" algn="r">
              <a:buNone/>
            </a:pPr>
            <a:r>
              <a:rPr lang="en-US" sz="1100" dirty="0">
                <a:solidFill>
                  <a:srgbClr val="5B6B79"/>
                </a:solidFill>
                <a:latin typeface="Calibri" pitchFamily="34" charset="0"/>
                <a:ea typeface="Calibri" pitchFamily="34" charset="-122"/>
                <a:cs typeface="Calibri" pitchFamily="34" charset="-120"/>
              </a:rPr>
              <a:t>Part 1 of 2</a:t>
            </a:r>
            <a:endParaRPr lang="en-US" sz="1100" dirty="0"/>
          </a:p>
        </p:txBody>
      </p:sp>
      <p:sp>
        <p:nvSpPr>
          <p:cNvPr id="5" name="Shape 3"/>
          <p:cNvSpPr/>
          <p:nvPr/>
        </p:nvSpPr>
        <p:spPr>
          <a:xfrm>
            <a:off x="530352" y="1417320"/>
            <a:ext cx="5486400" cy="4709160"/>
          </a:xfrm>
          <a:prstGeom prst="roundRect">
            <a:avLst>
              <a:gd name="adj" fmla="val 1165"/>
            </a:avLst>
          </a:prstGeom>
          <a:solidFill>
            <a:srgbClr val="FFFFFF"/>
          </a:solidFill>
          <a:ln w="12700">
            <a:solidFill>
              <a:srgbClr val="E1E7ED"/>
            </a:solidFill>
            <a:prstDash val="solid"/>
          </a:ln>
        </p:spPr>
      </p:sp>
      <p:sp>
        <p:nvSpPr>
          <p:cNvPr id="6" name="Shape 4"/>
          <p:cNvSpPr/>
          <p:nvPr/>
        </p:nvSpPr>
        <p:spPr>
          <a:xfrm>
            <a:off x="758952" y="1618488"/>
            <a:ext cx="457200" cy="457200"/>
          </a:xfrm>
          <a:prstGeom prst="roundRect">
            <a:avLst>
              <a:gd name="adj" fmla="val 12000"/>
            </a:avLst>
          </a:prstGeom>
          <a:solidFill>
            <a:srgbClr val="0B2545"/>
          </a:solidFill>
          <a:ln/>
        </p:spPr>
      </p:sp>
      <p:sp>
        <p:nvSpPr>
          <p:cNvPr id="7" name="Text 5"/>
          <p:cNvSpPr txBox="1"/>
          <p:nvPr/>
        </p:nvSpPr>
        <p:spPr>
          <a:xfrm>
            <a:off x="758952" y="1618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353312" y="1600200"/>
            <a:ext cx="4434840" cy="502920"/>
          </a:xfrm>
          <a:prstGeom prst="rect">
            <a:avLst/>
          </a:prstGeom>
          <a:noFill/>
          <a:ln/>
        </p:spPr>
        <p:txBody>
          <a:bodyPr wrap="square" lIns="0" tIns="0" rIns="0" bIns="0" rtlCol="0" anchor="t"/>
          <a:lstStyle/>
          <a:p>
            <a:pPr marL="0" indent="0">
              <a:lnSpc>
                <a:spcPct val="105000"/>
              </a:lnSpc>
              <a:buNone/>
            </a:pPr>
            <a:r>
              <a:rPr lang="en-US" sz="1250" b="1" dirty="0">
                <a:solidFill>
                  <a:srgbClr val="0B2545"/>
                </a:solidFill>
                <a:latin typeface="Calibri" pitchFamily="34" charset="0"/>
                <a:ea typeface="Calibri" pitchFamily="34" charset="-122"/>
                <a:cs typeface="Calibri" pitchFamily="34" charset="-120"/>
              </a:rPr>
              <a:t>Big Data: Principles and Best Practices of Scalable Real-Time Data Systems</a:t>
            </a:r>
            <a:endParaRPr lang="en-US" sz="1250" dirty="0"/>
          </a:p>
        </p:txBody>
      </p:sp>
      <p:sp>
        <p:nvSpPr>
          <p:cNvPr id="9" name="Text 7"/>
          <p:cNvSpPr txBox="1"/>
          <p:nvPr/>
        </p:nvSpPr>
        <p:spPr>
          <a:xfrm>
            <a:off x="1353312" y="2075688"/>
            <a:ext cx="4434840" cy="274320"/>
          </a:xfrm>
          <a:prstGeom prst="rect">
            <a:avLst/>
          </a:prstGeom>
          <a:noFill/>
          <a:ln/>
        </p:spPr>
        <p:txBody>
          <a:bodyPr wrap="square" lIns="0" tIns="0" rIns="0" bIns="0"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N. Marz &amp; J. Warren (2013)</a:t>
            </a:r>
            <a:endParaRPr lang="en-US" sz="1000" dirty="0"/>
          </a:p>
        </p:txBody>
      </p:sp>
      <p:sp>
        <p:nvSpPr>
          <p:cNvPr id="10" name="Text 8"/>
          <p:cNvSpPr txBox="1"/>
          <p:nvPr/>
        </p:nvSpPr>
        <p:spPr>
          <a:xfrm>
            <a:off x="804672" y="2468880"/>
            <a:ext cx="4937760" cy="777240"/>
          </a:xfrm>
          <a:prstGeom prst="rect">
            <a:avLst/>
          </a:prstGeom>
          <a:noFill/>
          <a:ln/>
        </p:spPr>
        <p:txBody>
          <a:bodyPr wrap="square" lIns="0" tIns="0" rIns="0" bIns="0" rtlCol="0" anchor="t"/>
          <a:lstStyle/>
          <a:p>
            <a:pPr marL="0" indent="0">
              <a:lnSpc>
                <a:spcPct val="118000"/>
              </a:lnSpc>
              <a:buNone/>
            </a:pPr>
            <a:r>
              <a:rPr lang="en-US" sz="1080" b="1" dirty="0">
                <a:solidFill>
                  <a:srgbClr val="134074"/>
                </a:solidFill>
                <a:latin typeface="Calibri" pitchFamily="34" charset="0"/>
                <a:ea typeface="Calibri" pitchFamily="34" charset="-122"/>
                <a:cs typeface="Calibri" pitchFamily="34" charset="-120"/>
              </a:rPr>
              <a:t>Focus:  </a:t>
            </a:r>
            <a:r>
              <a:rPr lang="en-US" sz="1080" dirty="0">
                <a:solidFill>
                  <a:srgbClr val="13293D"/>
                </a:solidFill>
                <a:latin typeface="Calibri" pitchFamily="34" charset="0"/>
                <a:ea typeface="Calibri" pitchFamily="34" charset="-122"/>
                <a:cs typeface="Calibri" pitchFamily="34" charset="-120"/>
              </a:rPr>
              <a:t>Introduced the Lambda Architecture, combining a batch layer and a speed layer to serve both historical and real-time views of data.</a:t>
            </a:r>
            <a:endParaRPr lang="en-US" sz="1080" dirty="0"/>
          </a:p>
        </p:txBody>
      </p:sp>
      <p:sp>
        <p:nvSpPr>
          <p:cNvPr id="11" name="Text 9"/>
          <p:cNvSpPr txBox="1"/>
          <p:nvPr/>
        </p:nvSpPr>
        <p:spPr>
          <a:xfrm>
            <a:off x="804672" y="3291840"/>
            <a:ext cx="4937760" cy="822960"/>
          </a:xfrm>
          <a:prstGeom prst="rect">
            <a:avLst/>
          </a:prstGeom>
          <a:noFill/>
          <a:ln/>
        </p:spPr>
        <p:txBody>
          <a:bodyPr wrap="square" lIns="0" tIns="0" rIns="0" bIns="0" rtlCol="0" anchor="t"/>
          <a:lstStyle/>
          <a:p>
            <a:pPr marL="0" indent="0">
              <a:lnSpc>
                <a:spcPct val="118000"/>
              </a:lnSpc>
              <a:buNone/>
            </a:pPr>
            <a:r>
              <a:rPr lang="en-US" sz="1080" b="1" dirty="0">
                <a:solidFill>
                  <a:srgbClr val="FF8C00"/>
                </a:solidFill>
                <a:latin typeface="Calibri" pitchFamily="34" charset="0"/>
                <a:ea typeface="Calibri" pitchFamily="34" charset="-122"/>
                <a:cs typeface="Calibri" pitchFamily="34" charset="-120"/>
              </a:rPr>
              <a:t>Gap:  </a:t>
            </a:r>
            <a:r>
              <a:rPr lang="en-US" sz="1080" dirty="0">
                <a:solidFill>
                  <a:srgbClr val="13293D"/>
                </a:solidFill>
                <a:latin typeface="Calibri" pitchFamily="34" charset="0"/>
                <a:ea typeface="Calibri" pitchFamily="34" charset="-122"/>
                <a:cs typeface="Calibri" pitchFamily="34" charset="-120"/>
              </a:rPr>
              <a:t>Running separate batch and streaming codebases increases engineering complexity and long-term maintenance overhead.</a:t>
            </a:r>
            <a:endParaRPr lang="en-US" sz="1080" dirty="0"/>
          </a:p>
        </p:txBody>
      </p:sp>
      <p:sp>
        <p:nvSpPr>
          <p:cNvPr id="12" name="Text 10"/>
          <p:cNvSpPr txBox="1"/>
          <p:nvPr/>
        </p:nvSpPr>
        <p:spPr>
          <a:xfrm>
            <a:off x="804672" y="4160520"/>
            <a:ext cx="4937760" cy="914400"/>
          </a:xfrm>
          <a:prstGeom prst="rect">
            <a:avLst/>
          </a:prstGeom>
          <a:noFill/>
          <a:ln/>
        </p:spPr>
        <p:txBody>
          <a:bodyPr wrap="square" lIns="0" tIns="0" rIns="0" bIns="0" rtlCol="0" anchor="t"/>
          <a:lstStyle/>
          <a:p>
            <a:pPr marL="0" indent="0">
              <a:lnSpc>
                <a:spcPct val="118000"/>
              </a:lnSpc>
              <a:buNone/>
            </a:pPr>
            <a:r>
              <a:rPr lang="en-US" sz="1080" b="1" dirty="0">
                <a:solidFill>
                  <a:srgbClr val="1E7B4D"/>
                </a:solidFill>
                <a:latin typeface="Calibri" pitchFamily="34" charset="0"/>
                <a:ea typeface="Calibri" pitchFamily="34" charset="-122"/>
                <a:cs typeface="Calibri" pitchFamily="34" charset="-120"/>
              </a:rPr>
              <a:t>Relevance:  </a:t>
            </a:r>
            <a:r>
              <a:rPr lang="en-US" sz="1080" dirty="0">
                <a:solidFill>
                  <a:srgbClr val="13293D"/>
                </a:solidFill>
                <a:latin typeface="Calibri" pitchFamily="34" charset="0"/>
                <a:ea typeface="Calibri" pitchFamily="34" charset="-122"/>
                <a:cs typeface="Calibri" pitchFamily="34" charset="-120"/>
              </a:rPr>
              <a:t>This project adopts the layered Bronze-Silver-Gold medallion model as a simpler, unified alternative to a dual batch/speed codebase.</a:t>
            </a:r>
            <a:endParaRPr lang="en-US" sz="1080" dirty="0"/>
          </a:p>
        </p:txBody>
      </p:sp>
      <p:sp>
        <p:nvSpPr>
          <p:cNvPr id="13" name="Shape 11"/>
          <p:cNvSpPr/>
          <p:nvPr/>
        </p:nvSpPr>
        <p:spPr>
          <a:xfrm>
            <a:off x="6172200" y="1417320"/>
            <a:ext cx="5486400" cy="4709160"/>
          </a:xfrm>
          <a:prstGeom prst="roundRect">
            <a:avLst>
              <a:gd name="adj" fmla="val 1165"/>
            </a:avLst>
          </a:prstGeom>
          <a:solidFill>
            <a:srgbClr val="FFFFFF"/>
          </a:solidFill>
          <a:ln w="12700">
            <a:solidFill>
              <a:srgbClr val="E1E7ED"/>
            </a:solidFill>
            <a:prstDash val="solid"/>
          </a:ln>
        </p:spPr>
      </p:sp>
      <p:sp>
        <p:nvSpPr>
          <p:cNvPr id="14" name="Shape 12"/>
          <p:cNvSpPr/>
          <p:nvPr/>
        </p:nvSpPr>
        <p:spPr>
          <a:xfrm>
            <a:off x="6400800" y="1618488"/>
            <a:ext cx="457200" cy="457200"/>
          </a:xfrm>
          <a:prstGeom prst="roundRect">
            <a:avLst>
              <a:gd name="adj" fmla="val 12000"/>
            </a:avLst>
          </a:prstGeom>
          <a:solidFill>
            <a:srgbClr val="0B2545"/>
          </a:solidFill>
          <a:ln/>
        </p:spPr>
      </p:sp>
      <p:sp>
        <p:nvSpPr>
          <p:cNvPr id="15" name="Text 13"/>
          <p:cNvSpPr txBox="1"/>
          <p:nvPr/>
        </p:nvSpPr>
        <p:spPr>
          <a:xfrm>
            <a:off x="6400800" y="1618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6995160" y="1600200"/>
            <a:ext cx="4434840" cy="502920"/>
          </a:xfrm>
          <a:prstGeom prst="rect">
            <a:avLst/>
          </a:prstGeom>
          <a:noFill/>
          <a:ln/>
        </p:spPr>
        <p:txBody>
          <a:bodyPr wrap="square" lIns="0" tIns="0" rIns="0" bIns="0" rtlCol="0" anchor="t"/>
          <a:lstStyle/>
          <a:p>
            <a:pPr marL="0" indent="0">
              <a:lnSpc>
                <a:spcPct val="105000"/>
              </a:lnSpc>
              <a:buNone/>
            </a:pPr>
            <a:r>
              <a:rPr lang="en-US" sz="1250" b="1" dirty="0">
                <a:solidFill>
                  <a:srgbClr val="0B2545"/>
                </a:solidFill>
                <a:latin typeface="Calibri" pitchFamily="34" charset="0"/>
                <a:ea typeface="Calibri" pitchFamily="34" charset="-122"/>
                <a:cs typeface="Calibri" pitchFamily="34" charset="-120"/>
              </a:rPr>
              <a:t>Big Data Real-Time Clickstream Data Ingestion Paradigm for E-Commerce Analytics</a:t>
            </a:r>
            <a:endParaRPr lang="en-US" sz="1250" dirty="0"/>
          </a:p>
        </p:txBody>
      </p:sp>
      <p:sp>
        <p:nvSpPr>
          <p:cNvPr id="17" name="Text 15"/>
          <p:cNvSpPr txBox="1"/>
          <p:nvPr/>
        </p:nvSpPr>
        <p:spPr>
          <a:xfrm>
            <a:off x="6995160" y="2075688"/>
            <a:ext cx="4434840" cy="274320"/>
          </a:xfrm>
          <a:prstGeom prst="rect">
            <a:avLst/>
          </a:prstGeom>
          <a:noFill/>
          <a:ln/>
        </p:spPr>
        <p:txBody>
          <a:bodyPr wrap="square" lIns="0" tIns="0" rIns="0" bIns="0"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G. Pal, G. Li &amp; K. Atkinson, IEEE I2CT (2018)</a:t>
            </a:r>
            <a:endParaRPr lang="en-US" sz="1000" dirty="0"/>
          </a:p>
        </p:txBody>
      </p:sp>
      <p:sp>
        <p:nvSpPr>
          <p:cNvPr id="18" name="Text 16"/>
          <p:cNvSpPr txBox="1"/>
          <p:nvPr/>
        </p:nvSpPr>
        <p:spPr>
          <a:xfrm>
            <a:off x="6446520" y="2468880"/>
            <a:ext cx="4937760" cy="777240"/>
          </a:xfrm>
          <a:prstGeom prst="rect">
            <a:avLst/>
          </a:prstGeom>
          <a:noFill/>
          <a:ln/>
        </p:spPr>
        <p:txBody>
          <a:bodyPr wrap="square" lIns="0" tIns="0" rIns="0" bIns="0" rtlCol="0" anchor="t"/>
          <a:lstStyle/>
          <a:p>
            <a:pPr marL="0" indent="0">
              <a:lnSpc>
                <a:spcPct val="118000"/>
              </a:lnSpc>
              <a:buNone/>
            </a:pPr>
            <a:r>
              <a:rPr lang="en-US" sz="1080" b="1" dirty="0">
                <a:solidFill>
                  <a:srgbClr val="134074"/>
                </a:solidFill>
                <a:latin typeface="Calibri" pitchFamily="34" charset="0"/>
                <a:ea typeface="Calibri" pitchFamily="34" charset="-122"/>
                <a:cs typeface="Calibri" pitchFamily="34" charset="-120"/>
              </a:rPr>
              <a:t>Focus:  </a:t>
            </a:r>
            <a:r>
              <a:rPr lang="en-US" sz="1080" dirty="0">
                <a:solidFill>
                  <a:srgbClr val="13293D"/>
                </a:solidFill>
                <a:latin typeface="Calibri" pitchFamily="34" charset="0"/>
                <a:ea typeface="Calibri" pitchFamily="34" charset="-122"/>
                <a:cs typeface="Calibri" pitchFamily="34" charset="-120"/>
              </a:rPr>
              <a:t>Proposed a Kafka-Flume-Spark-Cassandra pipeline for high-velocity, fault-tolerant clickstream ingestion in e-commerce.</a:t>
            </a:r>
            <a:endParaRPr lang="en-US" sz="1080" dirty="0"/>
          </a:p>
        </p:txBody>
      </p:sp>
      <p:sp>
        <p:nvSpPr>
          <p:cNvPr id="19" name="Text 17"/>
          <p:cNvSpPr txBox="1"/>
          <p:nvPr/>
        </p:nvSpPr>
        <p:spPr>
          <a:xfrm>
            <a:off x="6446520" y="3291840"/>
            <a:ext cx="4937760" cy="822960"/>
          </a:xfrm>
          <a:prstGeom prst="rect">
            <a:avLst/>
          </a:prstGeom>
          <a:noFill/>
          <a:ln/>
        </p:spPr>
        <p:txBody>
          <a:bodyPr wrap="square" lIns="0" tIns="0" rIns="0" bIns="0" rtlCol="0" anchor="t"/>
          <a:lstStyle/>
          <a:p>
            <a:pPr marL="0" indent="0">
              <a:lnSpc>
                <a:spcPct val="118000"/>
              </a:lnSpc>
              <a:buNone/>
            </a:pPr>
            <a:r>
              <a:rPr lang="en-US" sz="1080" b="1" dirty="0">
                <a:solidFill>
                  <a:srgbClr val="FF8C00"/>
                </a:solidFill>
                <a:latin typeface="Calibri" pitchFamily="34" charset="0"/>
                <a:ea typeface="Calibri" pitchFamily="34" charset="-122"/>
                <a:cs typeface="Calibri" pitchFamily="34" charset="-120"/>
              </a:rPr>
              <a:t>Gap:  </a:t>
            </a:r>
            <a:r>
              <a:rPr lang="en-US" sz="1080" dirty="0">
                <a:solidFill>
                  <a:srgbClr val="13293D"/>
                </a:solidFill>
                <a:latin typeface="Calibri" pitchFamily="34" charset="0"/>
                <a:ea typeface="Calibri" pitchFamily="34" charset="-122"/>
                <a:cs typeface="Calibri" pitchFamily="34" charset="-120"/>
              </a:rPr>
              <a:t>Concentrates on the ingestion layer alone, without a structured warehouse or business-ready analytics layer.</a:t>
            </a:r>
            <a:endParaRPr lang="en-US" sz="1080" dirty="0"/>
          </a:p>
        </p:txBody>
      </p:sp>
      <p:sp>
        <p:nvSpPr>
          <p:cNvPr id="20" name="Text 18"/>
          <p:cNvSpPr txBox="1"/>
          <p:nvPr/>
        </p:nvSpPr>
        <p:spPr>
          <a:xfrm>
            <a:off x="6446520" y="4160520"/>
            <a:ext cx="4937760" cy="914400"/>
          </a:xfrm>
          <a:prstGeom prst="rect">
            <a:avLst/>
          </a:prstGeom>
          <a:noFill/>
          <a:ln/>
        </p:spPr>
        <p:txBody>
          <a:bodyPr wrap="square" lIns="0" tIns="0" rIns="0" bIns="0" rtlCol="0" anchor="t"/>
          <a:lstStyle/>
          <a:p>
            <a:pPr marL="0" indent="0">
              <a:lnSpc>
                <a:spcPct val="118000"/>
              </a:lnSpc>
              <a:buNone/>
            </a:pPr>
            <a:r>
              <a:rPr lang="en-US" sz="1080" b="1" dirty="0">
                <a:solidFill>
                  <a:srgbClr val="1E7B4D"/>
                </a:solidFill>
                <a:latin typeface="Calibri" pitchFamily="34" charset="0"/>
                <a:ea typeface="Calibri" pitchFamily="34" charset="-122"/>
                <a:cs typeface="Calibri" pitchFamily="34" charset="-120"/>
              </a:rPr>
              <a:t>Relevance:  </a:t>
            </a:r>
            <a:r>
              <a:rPr lang="en-US" sz="1080" dirty="0">
                <a:solidFill>
                  <a:srgbClr val="13293D"/>
                </a:solidFill>
                <a:latin typeface="Calibri" pitchFamily="34" charset="0"/>
                <a:ea typeface="Calibri" pitchFamily="34" charset="-122"/>
                <a:cs typeface="Calibri" pitchFamily="34" charset="-120"/>
              </a:rPr>
              <a:t>This project extends that ingestion approach with a full medallion lake and warehouse layer for business-ready analytics.</a:t>
            </a:r>
            <a:endParaRPr lang="en-US" sz="1080" dirty="0"/>
          </a:p>
        </p:txBody>
      </p:sp>
      <p:sp>
        <p:nvSpPr>
          <p:cNvPr id="21" name="Text 19"/>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22" name="Text 20"/>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pic>
        <p:nvPicPr>
          <p:cNvPr id="24" name="Picture 23">
            <a:extLst>
              <a:ext uri="{FF2B5EF4-FFF2-40B4-BE49-F238E27FC236}">
                <a16:creationId xmlns:a16="http://schemas.microsoft.com/office/drawing/2014/main" id="{945D3CD5-BEEF-9F21-4CF4-06D99ED5AFCA}"/>
              </a:ext>
            </a:extLst>
          </p:cNvPr>
          <p:cNvPicPr>
            <a:picLocks noChangeAspect="1"/>
          </p:cNvPicPr>
          <p:nvPr/>
        </p:nvPicPr>
        <p:blipFill>
          <a:blip r:embed="rId3"/>
          <a:stretch>
            <a:fillRect/>
          </a:stretch>
        </p:blipFill>
        <p:spPr>
          <a:xfrm>
            <a:off x="10995895" y="250643"/>
            <a:ext cx="868210" cy="5685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Literature Survey</a:t>
            </a:r>
            <a:endParaRPr lang="en-US" sz="3200" dirty="0"/>
          </a:p>
        </p:txBody>
      </p:sp>
      <p:sp>
        <p:nvSpPr>
          <p:cNvPr id="4" name="Text 2"/>
          <p:cNvSpPr txBox="1"/>
          <p:nvPr/>
        </p:nvSpPr>
        <p:spPr>
          <a:xfrm>
            <a:off x="9692640" y="457200"/>
            <a:ext cx="2011680" cy="274320"/>
          </a:xfrm>
          <a:prstGeom prst="rect">
            <a:avLst/>
          </a:prstGeom>
          <a:noFill/>
          <a:ln/>
        </p:spPr>
        <p:txBody>
          <a:bodyPr wrap="square" lIns="0" tIns="0" rIns="0" bIns="0" rtlCol="0" anchor="ctr"/>
          <a:lstStyle/>
          <a:p>
            <a:pPr marL="0" indent="0" algn="r">
              <a:buNone/>
            </a:pPr>
            <a:r>
              <a:rPr lang="en-US" sz="1100" dirty="0">
                <a:solidFill>
                  <a:srgbClr val="5B6B79"/>
                </a:solidFill>
                <a:latin typeface="Calibri" pitchFamily="34" charset="0"/>
                <a:ea typeface="Calibri" pitchFamily="34" charset="-122"/>
                <a:cs typeface="Calibri" pitchFamily="34" charset="-120"/>
              </a:rPr>
              <a:t>Part 2 of 2</a:t>
            </a:r>
            <a:endParaRPr lang="en-US" sz="1100" dirty="0"/>
          </a:p>
        </p:txBody>
      </p:sp>
      <p:sp>
        <p:nvSpPr>
          <p:cNvPr id="5" name="Shape 3"/>
          <p:cNvSpPr/>
          <p:nvPr/>
        </p:nvSpPr>
        <p:spPr>
          <a:xfrm>
            <a:off x="530352" y="1417320"/>
            <a:ext cx="5486400" cy="4709160"/>
          </a:xfrm>
          <a:prstGeom prst="roundRect">
            <a:avLst>
              <a:gd name="adj" fmla="val 1165"/>
            </a:avLst>
          </a:prstGeom>
          <a:solidFill>
            <a:srgbClr val="FFFFFF"/>
          </a:solidFill>
          <a:ln w="12700">
            <a:solidFill>
              <a:srgbClr val="E1E7ED"/>
            </a:solidFill>
            <a:prstDash val="solid"/>
          </a:ln>
        </p:spPr>
      </p:sp>
      <p:sp>
        <p:nvSpPr>
          <p:cNvPr id="6" name="Shape 4"/>
          <p:cNvSpPr/>
          <p:nvPr/>
        </p:nvSpPr>
        <p:spPr>
          <a:xfrm>
            <a:off x="758952" y="1618488"/>
            <a:ext cx="457200" cy="457200"/>
          </a:xfrm>
          <a:prstGeom prst="roundRect">
            <a:avLst>
              <a:gd name="adj" fmla="val 12000"/>
            </a:avLst>
          </a:prstGeom>
          <a:solidFill>
            <a:srgbClr val="0B2545"/>
          </a:solidFill>
          <a:ln/>
        </p:spPr>
      </p:sp>
      <p:sp>
        <p:nvSpPr>
          <p:cNvPr id="7" name="Text 5"/>
          <p:cNvSpPr txBox="1"/>
          <p:nvPr/>
        </p:nvSpPr>
        <p:spPr>
          <a:xfrm>
            <a:off x="758952" y="1618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8" name="Text 6"/>
          <p:cNvSpPr txBox="1"/>
          <p:nvPr/>
        </p:nvSpPr>
        <p:spPr>
          <a:xfrm>
            <a:off x="1353312" y="1600200"/>
            <a:ext cx="4434840" cy="502920"/>
          </a:xfrm>
          <a:prstGeom prst="rect">
            <a:avLst/>
          </a:prstGeom>
          <a:noFill/>
          <a:ln/>
        </p:spPr>
        <p:txBody>
          <a:bodyPr wrap="square" lIns="0" tIns="0" rIns="0" bIns="0" rtlCol="0" anchor="t"/>
          <a:lstStyle/>
          <a:p>
            <a:pPr marL="0" indent="0">
              <a:lnSpc>
                <a:spcPct val="105000"/>
              </a:lnSpc>
              <a:buNone/>
            </a:pPr>
            <a:r>
              <a:rPr lang="en-US" sz="1250" b="1" dirty="0">
                <a:solidFill>
                  <a:srgbClr val="0B2545"/>
                </a:solidFill>
                <a:latin typeface="Calibri" pitchFamily="34" charset="0"/>
                <a:ea typeface="Calibri" pitchFamily="34" charset="-122"/>
                <a:cs typeface="Calibri" pitchFamily="34" charset="-120"/>
              </a:rPr>
              <a:t>Real-Time Text Analytics Pipeline Using Open-Source Big Data Tools</a:t>
            </a:r>
            <a:endParaRPr lang="en-US" sz="1250" dirty="0"/>
          </a:p>
        </p:txBody>
      </p:sp>
      <p:sp>
        <p:nvSpPr>
          <p:cNvPr id="9" name="Text 7"/>
          <p:cNvSpPr txBox="1"/>
          <p:nvPr/>
        </p:nvSpPr>
        <p:spPr>
          <a:xfrm>
            <a:off x="1353312" y="2075688"/>
            <a:ext cx="4434840" cy="274320"/>
          </a:xfrm>
          <a:prstGeom prst="rect">
            <a:avLst/>
          </a:prstGeom>
          <a:noFill/>
          <a:ln/>
        </p:spPr>
        <p:txBody>
          <a:bodyPr wrap="square" lIns="0" tIns="0" rIns="0" bIns="0"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H. Nazeer, W. Iqbal, F. Bokhari, F. Bukhari &amp; S. U. R. Baig</a:t>
            </a:r>
            <a:endParaRPr lang="en-US" sz="1000" dirty="0"/>
          </a:p>
        </p:txBody>
      </p:sp>
      <p:sp>
        <p:nvSpPr>
          <p:cNvPr id="10" name="Text 8"/>
          <p:cNvSpPr txBox="1"/>
          <p:nvPr/>
        </p:nvSpPr>
        <p:spPr>
          <a:xfrm>
            <a:off x="804672" y="2468880"/>
            <a:ext cx="4937760" cy="777240"/>
          </a:xfrm>
          <a:prstGeom prst="rect">
            <a:avLst/>
          </a:prstGeom>
          <a:noFill/>
          <a:ln/>
        </p:spPr>
        <p:txBody>
          <a:bodyPr wrap="square" lIns="0" tIns="0" rIns="0" bIns="0" rtlCol="0" anchor="t"/>
          <a:lstStyle/>
          <a:p>
            <a:pPr marL="0" indent="0">
              <a:lnSpc>
                <a:spcPct val="118000"/>
              </a:lnSpc>
              <a:buNone/>
            </a:pPr>
            <a:r>
              <a:rPr lang="en-US" sz="1080" b="1" dirty="0">
                <a:solidFill>
                  <a:srgbClr val="134074"/>
                </a:solidFill>
                <a:latin typeface="Calibri" pitchFamily="34" charset="0"/>
                <a:ea typeface="Calibri" pitchFamily="34" charset="-122"/>
                <a:cs typeface="Calibri" pitchFamily="34" charset="-120"/>
              </a:rPr>
              <a:t>Focus:  </a:t>
            </a:r>
            <a:r>
              <a:rPr lang="en-US" sz="1080" dirty="0">
                <a:solidFill>
                  <a:srgbClr val="13293D"/>
                </a:solidFill>
                <a:latin typeface="Calibri" pitchFamily="34" charset="0"/>
                <a:ea typeface="Calibri" pitchFamily="34" charset="-122"/>
                <a:cs typeface="Calibri" pitchFamily="34" charset="-120"/>
              </a:rPr>
              <a:t>Built a Kafka-Spark-Cassandra pipeline achieving sub-minute latency while processing high-throughput social data streams.</a:t>
            </a:r>
            <a:endParaRPr lang="en-US" sz="1080" dirty="0"/>
          </a:p>
        </p:txBody>
      </p:sp>
      <p:sp>
        <p:nvSpPr>
          <p:cNvPr id="11" name="Text 9"/>
          <p:cNvSpPr txBox="1"/>
          <p:nvPr/>
        </p:nvSpPr>
        <p:spPr>
          <a:xfrm>
            <a:off x="804672" y="3291840"/>
            <a:ext cx="4937760" cy="822960"/>
          </a:xfrm>
          <a:prstGeom prst="rect">
            <a:avLst/>
          </a:prstGeom>
          <a:noFill/>
          <a:ln/>
        </p:spPr>
        <p:txBody>
          <a:bodyPr wrap="square" lIns="0" tIns="0" rIns="0" bIns="0" rtlCol="0" anchor="t"/>
          <a:lstStyle/>
          <a:p>
            <a:pPr marL="0" indent="0">
              <a:lnSpc>
                <a:spcPct val="118000"/>
              </a:lnSpc>
              <a:buNone/>
            </a:pPr>
            <a:r>
              <a:rPr lang="en-US" sz="1080" b="1" dirty="0">
                <a:solidFill>
                  <a:srgbClr val="FF8C00"/>
                </a:solidFill>
                <a:latin typeface="Calibri" pitchFamily="34" charset="0"/>
                <a:ea typeface="Calibri" pitchFamily="34" charset="-122"/>
                <a:cs typeface="Calibri" pitchFamily="34" charset="-120"/>
              </a:rPr>
              <a:t>Gap:  </a:t>
            </a:r>
            <a:r>
              <a:rPr lang="en-US" sz="1080" dirty="0">
                <a:solidFill>
                  <a:srgbClr val="13293D"/>
                </a:solidFill>
                <a:latin typeface="Calibri" pitchFamily="34" charset="0"/>
                <a:ea typeface="Calibri" pitchFamily="34" charset="-122"/>
                <a:cs typeface="Calibri" pitchFamily="34" charset="-120"/>
              </a:rPr>
              <a:t>Evaluated only on social-media/text streams; not tested against structured, transactional e-commerce workloads.</a:t>
            </a:r>
            <a:endParaRPr lang="en-US" sz="1080" dirty="0"/>
          </a:p>
        </p:txBody>
      </p:sp>
      <p:sp>
        <p:nvSpPr>
          <p:cNvPr id="12" name="Text 10"/>
          <p:cNvSpPr txBox="1"/>
          <p:nvPr/>
        </p:nvSpPr>
        <p:spPr>
          <a:xfrm>
            <a:off x="804672" y="4160520"/>
            <a:ext cx="4937760" cy="914400"/>
          </a:xfrm>
          <a:prstGeom prst="rect">
            <a:avLst/>
          </a:prstGeom>
          <a:noFill/>
          <a:ln/>
        </p:spPr>
        <p:txBody>
          <a:bodyPr wrap="square" lIns="0" tIns="0" rIns="0" bIns="0" rtlCol="0" anchor="t"/>
          <a:lstStyle/>
          <a:p>
            <a:pPr marL="0" indent="0">
              <a:lnSpc>
                <a:spcPct val="118000"/>
              </a:lnSpc>
              <a:buNone/>
            </a:pPr>
            <a:r>
              <a:rPr lang="en-US" sz="1080" b="1" dirty="0">
                <a:solidFill>
                  <a:srgbClr val="1E7B4D"/>
                </a:solidFill>
                <a:latin typeface="Calibri" pitchFamily="34" charset="0"/>
                <a:ea typeface="Calibri" pitchFamily="34" charset="-122"/>
                <a:cs typeface="Calibri" pitchFamily="34" charset="-120"/>
              </a:rPr>
              <a:t>Relevance:  </a:t>
            </a:r>
            <a:r>
              <a:rPr lang="en-US" sz="1080" dirty="0">
                <a:solidFill>
                  <a:srgbClr val="13293D"/>
                </a:solidFill>
                <a:latin typeface="Calibri" pitchFamily="34" charset="0"/>
                <a:ea typeface="Calibri" pitchFamily="34" charset="-122"/>
                <a:cs typeface="Calibri" pitchFamily="34" charset="-120"/>
              </a:rPr>
              <a:t>Validates that a similar Kafka-Spark approach can be adapted here for structured e-commerce order and event data.</a:t>
            </a:r>
            <a:endParaRPr lang="en-US" sz="1080" dirty="0"/>
          </a:p>
        </p:txBody>
      </p:sp>
      <p:sp>
        <p:nvSpPr>
          <p:cNvPr id="13" name="Shape 11"/>
          <p:cNvSpPr/>
          <p:nvPr/>
        </p:nvSpPr>
        <p:spPr>
          <a:xfrm>
            <a:off x="6172200" y="1417320"/>
            <a:ext cx="5486400" cy="4709160"/>
          </a:xfrm>
          <a:prstGeom prst="roundRect">
            <a:avLst>
              <a:gd name="adj" fmla="val 1165"/>
            </a:avLst>
          </a:prstGeom>
          <a:solidFill>
            <a:srgbClr val="FFFFFF"/>
          </a:solidFill>
          <a:ln w="12700">
            <a:solidFill>
              <a:srgbClr val="E1E7ED"/>
            </a:solidFill>
            <a:prstDash val="solid"/>
          </a:ln>
        </p:spPr>
      </p:sp>
      <p:sp>
        <p:nvSpPr>
          <p:cNvPr id="14" name="Shape 12"/>
          <p:cNvSpPr/>
          <p:nvPr/>
        </p:nvSpPr>
        <p:spPr>
          <a:xfrm>
            <a:off x="6400800" y="1618488"/>
            <a:ext cx="457200" cy="457200"/>
          </a:xfrm>
          <a:prstGeom prst="roundRect">
            <a:avLst>
              <a:gd name="adj" fmla="val 12000"/>
            </a:avLst>
          </a:prstGeom>
          <a:solidFill>
            <a:srgbClr val="0B2545"/>
          </a:solidFill>
          <a:ln/>
        </p:spPr>
      </p:sp>
      <p:sp>
        <p:nvSpPr>
          <p:cNvPr id="15" name="Text 13"/>
          <p:cNvSpPr txBox="1"/>
          <p:nvPr/>
        </p:nvSpPr>
        <p:spPr>
          <a:xfrm>
            <a:off x="6400800" y="1618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6995160" y="1600200"/>
            <a:ext cx="4434840" cy="502920"/>
          </a:xfrm>
          <a:prstGeom prst="rect">
            <a:avLst/>
          </a:prstGeom>
          <a:noFill/>
          <a:ln/>
        </p:spPr>
        <p:txBody>
          <a:bodyPr wrap="square" lIns="0" tIns="0" rIns="0" bIns="0" rtlCol="0" anchor="t"/>
          <a:lstStyle/>
          <a:p>
            <a:pPr marL="0" indent="0">
              <a:lnSpc>
                <a:spcPct val="105000"/>
              </a:lnSpc>
              <a:buNone/>
            </a:pPr>
            <a:r>
              <a:rPr lang="en-US" sz="1250" b="1" dirty="0">
                <a:solidFill>
                  <a:srgbClr val="0B2545"/>
                </a:solidFill>
                <a:latin typeface="Calibri" pitchFamily="34" charset="0"/>
                <a:ea typeface="Calibri" pitchFamily="34" charset="-122"/>
                <a:cs typeface="Calibri" pitchFamily="34" charset="-120"/>
              </a:rPr>
              <a:t>Real-Time Analytics: Algorithms and Systems</a:t>
            </a:r>
            <a:endParaRPr lang="en-US" sz="1250" dirty="0"/>
          </a:p>
        </p:txBody>
      </p:sp>
      <p:sp>
        <p:nvSpPr>
          <p:cNvPr id="17" name="Text 15"/>
          <p:cNvSpPr txBox="1"/>
          <p:nvPr/>
        </p:nvSpPr>
        <p:spPr>
          <a:xfrm>
            <a:off x="6995160" y="2075688"/>
            <a:ext cx="4434840" cy="274320"/>
          </a:xfrm>
          <a:prstGeom prst="rect">
            <a:avLst/>
          </a:prstGeom>
          <a:noFill/>
          <a:ln/>
        </p:spPr>
        <p:txBody>
          <a:bodyPr wrap="square" lIns="0" tIns="0" rIns="0" bIns="0"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A. Kejariwal, S. Kulkarni &amp; K. Ramasamy, Twitter Inc.</a:t>
            </a:r>
            <a:endParaRPr lang="en-US" sz="1000" dirty="0"/>
          </a:p>
        </p:txBody>
      </p:sp>
      <p:sp>
        <p:nvSpPr>
          <p:cNvPr id="18" name="Text 16"/>
          <p:cNvSpPr txBox="1"/>
          <p:nvPr/>
        </p:nvSpPr>
        <p:spPr>
          <a:xfrm>
            <a:off x="6446520" y="2468880"/>
            <a:ext cx="4937760" cy="777240"/>
          </a:xfrm>
          <a:prstGeom prst="rect">
            <a:avLst/>
          </a:prstGeom>
          <a:noFill/>
          <a:ln/>
        </p:spPr>
        <p:txBody>
          <a:bodyPr wrap="square" lIns="0" tIns="0" rIns="0" bIns="0" rtlCol="0" anchor="t"/>
          <a:lstStyle/>
          <a:p>
            <a:pPr marL="0" indent="0">
              <a:lnSpc>
                <a:spcPct val="118000"/>
              </a:lnSpc>
              <a:buNone/>
            </a:pPr>
            <a:r>
              <a:rPr lang="en-US" sz="1080" b="1" dirty="0">
                <a:solidFill>
                  <a:srgbClr val="134074"/>
                </a:solidFill>
                <a:latin typeface="Calibri" pitchFamily="34" charset="0"/>
                <a:ea typeface="Calibri" pitchFamily="34" charset="-122"/>
                <a:cs typeface="Calibri" pitchFamily="34" charset="-120"/>
              </a:rPr>
              <a:t>Focus:  </a:t>
            </a:r>
            <a:r>
              <a:rPr lang="en-US" sz="1080" dirty="0">
                <a:solidFill>
                  <a:srgbClr val="13293D"/>
                </a:solidFill>
                <a:latin typeface="Calibri" pitchFamily="34" charset="0"/>
                <a:ea typeface="Calibri" pitchFamily="34" charset="-122"/>
                <a:cs typeface="Calibri" pitchFamily="34" charset="-120"/>
              </a:rPr>
              <a:t>Surveyed streaming analytics algorithms and platforms across e-commerce, finance, and telecom domains.</a:t>
            </a:r>
            <a:endParaRPr lang="en-US" sz="1080" dirty="0"/>
          </a:p>
        </p:txBody>
      </p:sp>
      <p:sp>
        <p:nvSpPr>
          <p:cNvPr id="19" name="Text 17"/>
          <p:cNvSpPr txBox="1"/>
          <p:nvPr/>
        </p:nvSpPr>
        <p:spPr>
          <a:xfrm>
            <a:off x="6446520" y="3291840"/>
            <a:ext cx="4937760" cy="822960"/>
          </a:xfrm>
          <a:prstGeom prst="rect">
            <a:avLst/>
          </a:prstGeom>
          <a:noFill/>
          <a:ln/>
        </p:spPr>
        <p:txBody>
          <a:bodyPr wrap="square" lIns="0" tIns="0" rIns="0" bIns="0" rtlCol="0" anchor="t"/>
          <a:lstStyle/>
          <a:p>
            <a:pPr marL="0" indent="0">
              <a:lnSpc>
                <a:spcPct val="118000"/>
              </a:lnSpc>
              <a:buNone/>
            </a:pPr>
            <a:r>
              <a:rPr lang="en-US" sz="1080" b="1" dirty="0">
                <a:solidFill>
                  <a:srgbClr val="FF8C00"/>
                </a:solidFill>
                <a:latin typeface="Calibri" pitchFamily="34" charset="0"/>
                <a:ea typeface="Calibri" pitchFamily="34" charset="-122"/>
                <a:cs typeface="Calibri" pitchFamily="34" charset="-120"/>
              </a:rPr>
              <a:t>Gap:  </a:t>
            </a:r>
            <a:r>
              <a:rPr lang="en-US" sz="1080" dirty="0">
                <a:solidFill>
                  <a:srgbClr val="13293D"/>
                </a:solidFill>
                <a:latin typeface="Calibri" pitchFamily="34" charset="0"/>
                <a:ea typeface="Calibri" pitchFamily="34" charset="-122"/>
                <a:cs typeface="Calibri" pitchFamily="34" charset="-120"/>
              </a:rPr>
              <a:t>Remains a platform-agnostic survey; it does not propose one concrete, deployable enterprise architecture.</a:t>
            </a:r>
            <a:endParaRPr lang="en-US" sz="1080" dirty="0"/>
          </a:p>
        </p:txBody>
      </p:sp>
      <p:sp>
        <p:nvSpPr>
          <p:cNvPr id="20" name="Text 18"/>
          <p:cNvSpPr txBox="1"/>
          <p:nvPr/>
        </p:nvSpPr>
        <p:spPr>
          <a:xfrm>
            <a:off x="6446520" y="4160520"/>
            <a:ext cx="4937760" cy="914400"/>
          </a:xfrm>
          <a:prstGeom prst="rect">
            <a:avLst/>
          </a:prstGeom>
          <a:noFill/>
          <a:ln/>
        </p:spPr>
        <p:txBody>
          <a:bodyPr wrap="square" lIns="0" tIns="0" rIns="0" bIns="0" rtlCol="0" anchor="t"/>
          <a:lstStyle/>
          <a:p>
            <a:pPr marL="0" indent="0">
              <a:lnSpc>
                <a:spcPct val="118000"/>
              </a:lnSpc>
              <a:buNone/>
            </a:pPr>
            <a:r>
              <a:rPr lang="en-US" sz="1080" b="1" dirty="0">
                <a:solidFill>
                  <a:srgbClr val="1E7B4D"/>
                </a:solidFill>
                <a:latin typeface="Calibri" pitchFamily="34" charset="0"/>
                <a:ea typeface="Calibri" pitchFamily="34" charset="-122"/>
                <a:cs typeface="Calibri" pitchFamily="34" charset="-120"/>
              </a:rPr>
              <a:t>Relevance:  </a:t>
            </a:r>
            <a:r>
              <a:rPr lang="en-US" sz="1080" dirty="0">
                <a:solidFill>
                  <a:srgbClr val="13293D"/>
                </a:solidFill>
                <a:latin typeface="Calibri" pitchFamily="34" charset="0"/>
                <a:ea typeface="Calibri" pitchFamily="34" charset="-122"/>
                <a:cs typeface="Calibri" pitchFamily="34" charset="-120"/>
              </a:rPr>
              <a:t>This project operationalizes those concepts into a concrete Kafka-Spark-Airflow-Redshift architecture with live dashboards.</a:t>
            </a:r>
            <a:endParaRPr lang="en-US" sz="1080" dirty="0"/>
          </a:p>
        </p:txBody>
      </p:sp>
      <p:sp>
        <p:nvSpPr>
          <p:cNvPr id="21" name="Text 19"/>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22" name="Text 20"/>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pic>
        <p:nvPicPr>
          <p:cNvPr id="24" name="Picture 23">
            <a:extLst>
              <a:ext uri="{FF2B5EF4-FFF2-40B4-BE49-F238E27FC236}">
                <a16:creationId xmlns:a16="http://schemas.microsoft.com/office/drawing/2014/main" id="{ACD991CC-FB50-55F4-1828-A594BA0668B0}"/>
              </a:ext>
            </a:extLst>
          </p:cNvPr>
          <p:cNvPicPr>
            <a:picLocks noChangeAspect="1"/>
          </p:cNvPicPr>
          <p:nvPr/>
        </p:nvPicPr>
        <p:blipFill>
          <a:blip r:embed="rId3"/>
          <a:stretch>
            <a:fillRect/>
          </a:stretch>
        </p:blipFill>
        <p:spPr>
          <a:xfrm>
            <a:off x="10995895" y="250643"/>
            <a:ext cx="868210" cy="5685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502920" y="1417320"/>
            <a:ext cx="11183112" cy="4709160"/>
          </a:xfrm>
          <a:prstGeom prst="roundRect">
            <a:avLst>
              <a:gd name="adj" fmla="val 1165"/>
            </a:avLst>
          </a:prstGeom>
          <a:solidFill>
            <a:srgbClr val="FFFFFF"/>
          </a:solidFill>
          <a:ln w="12700">
            <a:solidFill>
              <a:srgbClr val="E1E7ED"/>
            </a:solidFill>
            <a:prstDash val="solid"/>
          </a:ln>
        </p:spPr>
      </p:sp>
      <p:pic>
        <p:nvPicPr>
          <p:cNvPr id="5" name="Image 0" descr="/mnt/user-data/uploads/WhatsApp_Image_2026-09-02_at_8_23_05_AM.jpeg"/>
          <p:cNvPicPr>
            <a:picLocks noChangeAspect="1"/>
          </p:cNvPicPr>
          <p:nvPr/>
        </p:nvPicPr>
        <p:blipFill>
          <a:blip r:embed="rId3"/>
          <a:stretch>
            <a:fillRect/>
          </a:stretch>
        </p:blipFill>
        <p:spPr>
          <a:xfrm>
            <a:off x="2616630" y="1737360"/>
            <a:ext cx="6955692" cy="4069080"/>
          </a:xfrm>
          <a:prstGeom prst="rect">
            <a:avLst/>
          </a:prstGeom>
        </p:spPr>
      </p:pic>
      <p:sp>
        <p:nvSpPr>
          <p:cNvPr id="6" name="Text 3"/>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7" name="Text 4"/>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pic>
        <p:nvPicPr>
          <p:cNvPr id="9" name="Picture 8">
            <a:extLst>
              <a:ext uri="{FF2B5EF4-FFF2-40B4-BE49-F238E27FC236}">
                <a16:creationId xmlns:a16="http://schemas.microsoft.com/office/drawing/2014/main" id="{E2B3B999-A372-E683-76B1-41549ED49B17}"/>
              </a:ext>
            </a:extLst>
          </p:cNvPr>
          <p:cNvPicPr>
            <a:picLocks noChangeAspect="1"/>
          </p:cNvPicPr>
          <p:nvPr/>
        </p:nvPicPr>
        <p:blipFill>
          <a:blip r:embed="rId4"/>
          <a:stretch>
            <a:fillRect/>
          </a:stretch>
        </p:blipFill>
        <p:spPr>
          <a:xfrm>
            <a:off x="10995895" y="250643"/>
            <a:ext cx="868210" cy="5685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F8C00"/>
                </a:solidFill>
                <a:latin typeface="Calibri" pitchFamily="34" charset="0"/>
                <a:ea typeface="Calibri" pitchFamily="34" charset="-122"/>
                <a:cs typeface="Calibri" pitchFamily="34" charset="-120"/>
              </a:rPr>
              <a:t>REVIEW 2</a:t>
            </a:r>
            <a:endParaRPr lang="en-US" sz="1200" dirty="0"/>
          </a:p>
        </p:txBody>
      </p:sp>
      <p:sp>
        <p:nvSpPr>
          <p:cNvPr id="3" name="Text 1"/>
          <p:cNvSpPr txBox="1"/>
          <p:nvPr/>
        </p:nvSpPr>
        <p:spPr>
          <a:xfrm>
            <a:off x="530352" y="640080"/>
            <a:ext cx="10515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Technology Stack &amp; Key Components</a:t>
            </a:r>
            <a:endParaRPr lang="en-US" sz="3200" dirty="0"/>
          </a:p>
        </p:txBody>
      </p:sp>
      <p:sp>
        <p:nvSpPr>
          <p:cNvPr id="4" name="Shape 2"/>
          <p:cNvSpPr/>
          <p:nvPr/>
        </p:nvSpPr>
        <p:spPr>
          <a:xfrm>
            <a:off x="530352" y="1463040"/>
            <a:ext cx="2606040" cy="2148840"/>
          </a:xfrm>
          <a:prstGeom prst="roundRect">
            <a:avLst>
              <a:gd name="adj" fmla="val 2979"/>
            </a:avLst>
          </a:prstGeom>
          <a:solidFill>
            <a:srgbClr val="FFFFFF"/>
          </a:solidFill>
          <a:ln w="12700">
            <a:solidFill>
              <a:srgbClr val="E1E7ED"/>
            </a:solidFill>
            <a:prstDash val="solid"/>
          </a:ln>
        </p:spPr>
      </p:sp>
      <p:sp>
        <p:nvSpPr>
          <p:cNvPr id="5" name="Shape 3"/>
          <p:cNvSpPr/>
          <p:nvPr/>
        </p:nvSpPr>
        <p:spPr>
          <a:xfrm>
            <a:off x="1504188" y="1719072"/>
            <a:ext cx="658368" cy="658368"/>
          </a:xfrm>
          <a:prstGeom prst="ellipse">
            <a:avLst/>
          </a:prstGeom>
          <a:solidFill>
            <a:srgbClr val="0B2545"/>
          </a:solidFill>
          <a:ln/>
        </p:spPr>
      </p:sp>
      <p:pic>
        <p:nvPicPr>
          <p:cNvPr id="6" name="Image 0" descr="/home/claude/icon_kafka.png"/>
          <p:cNvPicPr>
            <a:picLocks noChangeAspect="1"/>
          </p:cNvPicPr>
          <p:nvPr/>
        </p:nvPicPr>
        <p:blipFill>
          <a:blip r:embed="rId3"/>
          <a:stretch>
            <a:fillRect/>
          </a:stretch>
        </p:blipFill>
        <p:spPr>
          <a:xfrm>
            <a:off x="1668780" y="1883664"/>
            <a:ext cx="329184" cy="329184"/>
          </a:xfrm>
          <a:prstGeom prst="rect">
            <a:avLst/>
          </a:prstGeom>
        </p:spPr>
      </p:pic>
      <p:sp>
        <p:nvSpPr>
          <p:cNvPr id="7" name="Text 4"/>
          <p:cNvSpPr txBox="1"/>
          <p:nvPr/>
        </p:nvSpPr>
        <p:spPr>
          <a:xfrm>
            <a:off x="640080" y="248716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Apache Kafka</a:t>
            </a:r>
            <a:endParaRPr lang="en-US" sz="1200" dirty="0"/>
          </a:p>
        </p:txBody>
      </p:sp>
      <p:sp>
        <p:nvSpPr>
          <p:cNvPr id="8" name="Text 5"/>
          <p:cNvSpPr txBox="1"/>
          <p:nvPr/>
        </p:nvSpPr>
        <p:spPr>
          <a:xfrm>
            <a:off x="640080" y="294436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Real-time event ingestion</a:t>
            </a:r>
            <a:endParaRPr lang="en-US" sz="980" dirty="0"/>
          </a:p>
        </p:txBody>
      </p:sp>
      <p:sp>
        <p:nvSpPr>
          <p:cNvPr id="9" name="Shape 6"/>
          <p:cNvSpPr/>
          <p:nvPr/>
        </p:nvSpPr>
        <p:spPr>
          <a:xfrm>
            <a:off x="3319272" y="1463040"/>
            <a:ext cx="2606040" cy="2148840"/>
          </a:xfrm>
          <a:prstGeom prst="roundRect">
            <a:avLst>
              <a:gd name="adj" fmla="val 2979"/>
            </a:avLst>
          </a:prstGeom>
          <a:solidFill>
            <a:srgbClr val="FFFFFF"/>
          </a:solidFill>
          <a:ln w="12700">
            <a:solidFill>
              <a:srgbClr val="E1E7ED"/>
            </a:solidFill>
            <a:prstDash val="solid"/>
          </a:ln>
        </p:spPr>
      </p:sp>
      <p:sp>
        <p:nvSpPr>
          <p:cNvPr id="10" name="Shape 7"/>
          <p:cNvSpPr/>
          <p:nvPr/>
        </p:nvSpPr>
        <p:spPr>
          <a:xfrm>
            <a:off x="4293108" y="1719072"/>
            <a:ext cx="658368" cy="658368"/>
          </a:xfrm>
          <a:prstGeom prst="ellipse">
            <a:avLst/>
          </a:prstGeom>
          <a:solidFill>
            <a:srgbClr val="134074"/>
          </a:solidFill>
          <a:ln/>
        </p:spPr>
      </p:sp>
      <p:pic>
        <p:nvPicPr>
          <p:cNvPr id="11" name="Image 1" descr="/home/claude/icon_spark.png"/>
          <p:cNvPicPr>
            <a:picLocks noChangeAspect="1"/>
          </p:cNvPicPr>
          <p:nvPr/>
        </p:nvPicPr>
        <p:blipFill>
          <a:blip r:embed="rId4"/>
          <a:stretch>
            <a:fillRect/>
          </a:stretch>
        </p:blipFill>
        <p:spPr>
          <a:xfrm>
            <a:off x="4457700" y="1883664"/>
            <a:ext cx="329184" cy="329184"/>
          </a:xfrm>
          <a:prstGeom prst="rect">
            <a:avLst/>
          </a:prstGeom>
        </p:spPr>
      </p:pic>
      <p:sp>
        <p:nvSpPr>
          <p:cNvPr id="12" name="Text 8"/>
          <p:cNvSpPr txBox="1"/>
          <p:nvPr/>
        </p:nvSpPr>
        <p:spPr>
          <a:xfrm>
            <a:off x="3429000" y="248716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Apache Spark</a:t>
            </a:r>
            <a:endParaRPr lang="en-US" sz="1200" dirty="0"/>
          </a:p>
        </p:txBody>
      </p:sp>
      <p:sp>
        <p:nvSpPr>
          <p:cNvPr id="13" name="Text 9"/>
          <p:cNvSpPr txBox="1"/>
          <p:nvPr/>
        </p:nvSpPr>
        <p:spPr>
          <a:xfrm>
            <a:off x="3429000" y="294436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Structured streaming processing</a:t>
            </a:r>
            <a:endParaRPr lang="en-US" sz="980" dirty="0"/>
          </a:p>
        </p:txBody>
      </p:sp>
      <p:sp>
        <p:nvSpPr>
          <p:cNvPr id="14" name="Shape 10"/>
          <p:cNvSpPr/>
          <p:nvPr/>
        </p:nvSpPr>
        <p:spPr>
          <a:xfrm>
            <a:off x="6108192" y="1463040"/>
            <a:ext cx="2606040" cy="2148840"/>
          </a:xfrm>
          <a:prstGeom prst="roundRect">
            <a:avLst>
              <a:gd name="adj" fmla="val 2979"/>
            </a:avLst>
          </a:prstGeom>
          <a:solidFill>
            <a:srgbClr val="FFFFFF"/>
          </a:solidFill>
          <a:ln w="12700">
            <a:solidFill>
              <a:srgbClr val="E1E7ED"/>
            </a:solidFill>
            <a:prstDash val="solid"/>
          </a:ln>
        </p:spPr>
      </p:sp>
      <p:sp>
        <p:nvSpPr>
          <p:cNvPr id="15" name="Shape 11"/>
          <p:cNvSpPr/>
          <p:nvPr/>
        </p:nvSpPr>
        <p:spPr>
          <a:xfrm>
            <a:off x="7082028" y="1719072"/>
            <a:ext cx="658368" cy="658368"/>
          </a:xfrm>
          <a:prstGeom prst="ellipse">
            <a:avLst/>
          </a:prstGeom>
          <a:solidFill>
            <a:srgbClr val="0B2545"/>
          </a:solidFill>
          <a:ln/>
        </p:spPr>
      </p:sp>
      <p:pic>
        <p:nvPicPr>
          <p:cNvPr id="16" name="Image 2" descr="/home/claude/icon_cloud.png"/>
          <p:cNvPicPr>
            <a:picLocks noChangeAspect="1"/>
          </p:cNvPicPr>
          <p:nvPr/>
        </p:nvPicPr>
        <p:blipFill>
          <a:blip r:embed="rId5"/>
          <a:stretch>
            <a:fillRect/>
          </a:stretch>
        </p:blipFill>
        <p:spPr>
          <a:xfrm>
            <a:off x="7246620" y="1883664"/>
            <a:ext cx="329184" cy="329184"/>
          </a:xfrm>
          <a:prstGeom prst="rect">
            <a:avLst/>
          </a:prstGeom>
        </p:spPr>
      </p:pic>
      <p:sp>
        <p:nvSpPr>
          <p:cNvPr id="17" name="Text 12"/>
          <p:cNvSpPr txBox="1"/>
          <p:nvPr/>
        </p:nvSpPr>
        <p:spPr>
          <a:xfrm>
            <a:off x="6217920" y="248716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Amazon S3</a:t>
            </a:r>
            <a:endParaRPr lang="en-US" sz="1200" dirty="0"/>
          </a:p>
        </p:txBody>
      </p:sp>
      <p:sp>
        <p:nvSpPr>
          <p:cNvPr id="18" name="Text 13"/>
          <p:cNvSpPr txBox="1"/>
          <p:nvPr/>
        </p:nvSpPr>
        <p:spPr>
          <a:xfrm>
            <a:off x="6217920" y="294436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Bronze / Silver / Gold data lake</a:t>
            </a:r>
            <a:endParaRPr lang="en-US" sz="980" dirty="0"/>
          </a:p>
        </p:txBody>
      </p:sp>
      <p:sp>
        <p:nvSpPr>
          <p:cNvPr id="19" name="Shape 14"/>
          <p:cNvSpPr/>
          <p:nvPr/>
        </p:nvSpPr>
        <p:spPr>
          <a:xfrm>
            <a:off x="8897112" y="1463040"/>
            <a:ext cx="2606040" cy="2148840"/>
          </a:xfrm>
          <a:prstGeom prst="roundRect">
            <a:avLst>
              <a:gd name="adj" fmla="val 2979"/>
            </a:avLst>
          </a:prstGeom>
          <a:solidFill>
            <a:srgbClr val="FFFFFF"/>
          </a:solidFill>
          <a:ln w="12700">
            <a:solidFill>
              <a:srgbClr val="E1E7ED"/>
            </a:solidFill>
            <a:prstDash val="solid"/>
          </a:ln>
        </p:spPr>
      </p:sp>
      <p:sp>
        <p:nvSpPr>
          <p:cNvPr id="20" name="Shape 15"/>
          <p:cNvSpPr/>
          <p:nvPr/>
        </p:nvSpPr>
        <p:spPr>
          <a:xfrm>
            <a:off x="9870948" y="1719072"/>
            <a:ext cx="658368" cy="658368"/>
          </a:xfrm>
          <a:prstGeom prst="ellipse">
            <a:avLst/>
          </a:prstGeom>
          <a:solidFill>
            <a:srgbClr val="134074"/>
          </a:solidFill>
          <a:ln/>
        </p:spPr>
      </p:sp>
      <p:pic>
        <p:nvPicPr>
          <p:cNvPr id="21" name="Image 3" descr="/home/claude/icon_airflow.png"/>
          <p:cNvPicPr>
            <a:picLocks noChangeAspect="1"/>
          </p:cNvPicPr>
          <p:nvPr/>
        </p:nvPicPr>
        <p:blipFill>
          <a:blip r:embed="rId6"/>
          <a:stretch>
            <a:fillRect/>
          </a:stretch>
        </p:blipFill>
        <p:spPr>
          <a:xfrm>
            <a:off x="10035540" y="1883664"/>
            <a:ext cx="329184" cy="329184"/>
          </a:xfrm>
          <a:prstGeom prst="rect">
            <a:avLst/>
          </a:prstGeom>
        </p:spPr>
      </p:pic>
      <p:sp>
        <p:nvSpPr>
          <p:cNvPr id="22" name="Text 16"/>
          <p:cNvSpPr txBox="1"/>
          <p:nvPr/>
        </p:nvSpPr>
        <p:spPr>
          <a:xfrm>
            <a:off x="9006840" y="248716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Apache Airflow</a:t>
            </a:r>
            <a:endParaRPr lang="en-US" sz="1200" dirty="0"/>
          </a:p>
        </p:txBody>
      </p:sp>
      <p:sp>
        <p:nvSpPr>
          <p:cNvPr id="23" name="Text 17"/>
          <p:cNvSpPr txBox="1"/>
          <p:nvPr/>
        </p:nvSpPr>
        <p:spPr>
          <a:xfrm>
            <a:off x="9006840" y="294436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Batch workflow orchestration</a:t>
            </a:r>
            <a:endParaRPr lang="en-US" sz="980" dirty="0"/>
          </a:p>
        </p:txBody>
      </p:sp>
      <p:sp>
        <p:nvSpPr>
          <p:cNvPr id="24" name="Shape 18"/>
          <p:cNvSpPr/>
          <p:nvPr/>
        </p:nvSpPr>
        <p:spPr>
          <a:xfrm>
            <a:off x="530352" y="3794760"/>
            <a:ext cx="2606040" cy="2148840"/>
          </a:xfrm>
          <a:prstGeom prst="roundRect">
            <a:avLst>
              <a:gd name="adj" fmla="val 2979"/>
            </a:avLst>
          </a:prstGeom>
          <a:solidFill>
            <a:srgbClr val="FFFFFF"/>
          </a:solidFill>
          <a:ln w="12700">
            <a:solidFill>
              <a:srgbClr val="E1E7ED"/>
            </a:solidFill>
            <a:prstDash val="solid"/>
          </a:ln>
        </p:spPr>
      </p:sp>
      <p:sp>
        <p:nvSpPr>
          <p:cNvPr id="25" name="Shape 19"/>
          <p:cNvSpPr/>
          <p:nvPr/>
        </p:nvSpPr>
        <p:spPr>
          <a:xfrm>
            <a:off x="1504188" y="4050792"/>
            <a:ext cx="658368" cy="658368"/>
          </a:xfrm>
          <a:prstGeom prst="ellipse">
            <a:avLst/>
          </a:prstGeom>
          <a:solidFill>
            <a:srgbClr val="0B2545"/>
          </a:solidFill>
          <a:ln/>
        </p:spPr>
      </p:sp>
      <p:pic>
        <p:nvPicPr>
          <p:cNvPr id="26" name="Image 4" descr="/home/claude/icon_warehouse.png"/>
          <p:cNvPicPr>
            <a:picLocks noChangeAspect="1"/>
          </p:cNvPicPr>
          <p:nvPr/>
        </p:nvPicPr>
        <p:blipFill>
          <a:blip r:embed="rId7"/>
          <a:stretch>
            <a:fillRect/>
          </a:stretch>
        </p:blipFill>
        <p:spPr>
          <a:xfrm>
            <a:off x="1668780" y="4215384"/>
            <a:ext cx="329184" cy="329184"/>
          </a:xfrm>
          <a:prstGeom prst="rect">
            <a:avLst/>
          </a:prstGeom>
        </p:spPr>
      </p:pic>
      <p:sp>
        <p:nvSpPr>
          <p:cNvPr id="27" name="Text 20"/>
          <p:cNvSpPr txBox="1"/>
          <p:nvPr/>
        </p:nvSpPr>
        <p:spPr>
          <a:xfrm>
            <a:off x="640080" y="481888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Redshift / Snowflake</a:t>
            </a:r>
            <a:endParaRPr lang="en-US" sz="1200" dirty="0"/>
          </a:p>
        </p:txBody>
      </p:sp>
      <p:sp>
        <p:nvSpPr>
          <p:cNvPr id="28" name="Text 21"/>
          <p:cNvSpPr txBox="1"/>
          <p:nvPr/>
        </p:nvSpPr>
        <p:spPr>
          <a:xfrm>
            <a:off x="640080" y="527608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Business-ready data warehouse</a:t>
            </a:r>
            <a:endParaRPr lang="en-US" sz="980" dirty="0"/>
          </a:p>
        </p:txBody>
      </p:sp>
      <p:sp>
        <p:nvSpPr>
          <p:cNvPr id="29" name="Shape 22"/>
          <p:cNvSpPr/>
          <p:nvPr/>
        </p:nvSpPr>
        <p:spPr>
          <a:xfrm>
            <a:off x="3319272" y="3794760"/>
            <a:ext cx="2606040" cy="2148840"/>
          </a:xfrm>
          <a:prstGeom prst="roundRect">
            <a:avLst>
              <a:gd name="adj" fmla="val 2979"/>
            </a:avLst>
          </a:prstGeom>
          <a:solidFill>
            <a:srgbClr val="FFFFFF"/>
          </a:solidFill>
          <a:ln w="12700">
            <a:solidFill>
              <a:srgbClr val="E1E7ED"/>
            </a:solidFill>
            <a:prstDash val="solid"/>
          </a:ln>
        </p:spPr>
      </p:sp>
      <p:sp>
        <p:nvSpPr>
          <p:cNvPr id="30" name="Shape 23"/>
          <p:cNvSpPr/>
          <p:nvPr/>
        </p:nvSpPr>
        <p:spPr>
          <a:xfrm>
            <a:off x="4293108" y="4050792"/>
            <a:ext cx="658368" cy="658368"/>
          </a:xfrm>
          <a:prstGeom prst="ellipse">
            <a:avLst/>
          </a:prstGeom>
          <a:solidFill>
            <a:srgbClr val="134074"/>
          </a:solidFill>
          <a:ln/>
        </p:spPr>
      </p:sp>
      <p:pic>
        <p:nvPicPr>
          <p:cNvPr id="31" name="Image 5" descr="/home/claude/icon_chart.png"/>
          <p:cNvPicPr>
            <a:picLocks noChangeAspect="1"/>
          </p:cNvPicPr>
          <p:nvPr/>
        </p:nvPicPr>
        <p:blipFill>
          <a:blip r:embed="rId8"/>
          <a:stretch>
            <a:fillRect/>
          </a:stretch>
        </p:blipFill>
        <p:spPr>
          <a:xfrm>
            <a:off x="4457700" y="4215384"/>
            <a:ext cx="329184" cy="329184"/>
          </a:xfrm>
          <a:prstGeom prst="rect">
            <a:avLst/>
          </a:prstGeom>
        </p:spPr>
      </p:pic>
      <p:sp>
        <p:nvSpPr>
          <p:cNvPr id="32" name="Text 24"/>
          <p:cNvSpPr txBox="1"/>
          <p:nvPr/>
        </p:nvSpPr>
        <p:spPr>
          <a:xfrm>
            <a:off x="3429000" y="481888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Power BI / Tableau</a:t>
            </a:r>
            <a:endParaRPr lang="en-US" sz="1200" dirty="0"/>
          </a:p>
        </p:txBody>
      </p:sp>
      <p:sp>
        <p:nvSpPr>
          <p:cNvPr id="33" name="Text 25"/>
          <p:cNvSpPr txBox="1"/>
          <p:nvPr/>
        </p:nvSpPr>
        <p:spPr>
          <a:xfrm>
            <a:off x="3429000" y="527608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Real-time interactive dashboards</a:t>
            </a:r>
            <a:endParaRPr lang="en-US" sz="980" dirty="0"/>
          </a:p>
        </p:txBody>
      </p:sp>
      <p:sp>
        <p:nvSpPr>
          <p:cNvPr id="34" name="Shape 26"/>
          <p:cNvSpPr/>
          <p:nvPr/>
        </p:nvSpPr>
        <p:spPr>
          <a:xfrm>
            <a:off x="6108192" y="3794760"/>
            <a:ext cx="2606040" cy="2148840"/>
          </a:xfrm>
          <a:prstGeom prst="roundRect">
            <a:avLst>
              <a:gd name="adj" fmla="val 2979"/>
            </a:avLst>
          </a:prstGeom>
          <a:solidFill>
            <a:srgbClr val="FFFFFF"/>
          </a:solidFill>
          <a:ln w="12700">
            <a:solidFill>
              <a:srgbClr val="E1E7ED"/>
            </a:solidFill>
            <a:prstDash val="solid"/>
          </a:ln>
        </p:spPr>
      </p:sp>
      <p:sp>
        <p:nvSpPr>
          <p:cNvPr id="35" name="Shape 27"/>
          <p:cNvSpPr/>
          <p:nvPr/>
        </p:nvSpPr>
        <p:spPr>
          <a:xfrm>
            <a:off x="7082028" y="4050792"/>
            <a:ext cx="658368" cy="658368"/>
          </a:xfrm>
          <a:prstGeom prst="ellipse">
            <a:avLst/>
          </a:prstGeom>
          <a:solidFill>
            <a:srgbClr val="0B2545"/>
          </a:solidFill>
          <a:ln/>
        </p:spPr>
      </p:sp>
      <p:pic>
        <p:nvPicPr>
          <p:cNvPr id="36" name="Image 6" descr="/home/claude/icon_shield.png"/>
          <p:cNvPicPr>
            <a:picLocks noChangeAspect="1"/>
          </p:cNvPicPr>
          <p:nvPr/>
        </p:nvPicPr>
        <p:blipFill>
          <a:blip r:embed="rId9"/>
          <a:stretch>
            <a:fillRect/>
          </a:stretch>
        </p:blipFill>
        <p:spPr>
          <a:xfrm>
            <a:off x="7246620" y="4215384"/>
            <a:ext cx="329184" cy="329184"/>
          </a:xfrm>
          <a:prstGeom prst="rect">
            <a:avLst/>
          </a:prstGeom>
        </p:spPr>
      </p:pic>
      <p:sp>
        <p:nvSpPr>
          <p:cNvPr id="37" name="Text 28"/>
          <p:cNvSpPr txBox="1"/>
          <p:nvPr/>
        </p:nvSpPr>
        <p:spPr>
          <a:xfrm>
            <a:off x="6217920" y="481888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Data Quality &amp; Security</a:t>
            </a:r>
            <a:endParaRPr lang="en-US" sz="1200" dirty="0"/>
          </a:p>
        </p:txBody>
      </p:sp>
      <p:sp>
        <p:nvSpPr>
          <p:cNvPr id="38" name="Text 29"/>
          <p:cNvSpPr txBox="1"/>
          <p:nvPr/>
        </p:nvSpPr>
        <p:spPr>
          <a:xfrm>
            <a:off x="6217920" y="527608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Validation, access control, governance</a:t>
            </a:r>
            <a:endParaRPr lang="en-US" sz="980" dirty="0"/>
          </a:p>
        </p:txBody>
      </p:sp>
      <p:sp>
        <p:nvSpPr>
          <p:cNvPr id="39" name="Shape 30"/>
          <p:cNvSpPr/>
          <p:nvPr/>
        </p:nvSpPr>
        <p:spPr>
          <a:xfrm>
            <a:off x="8897112" y="3794760"/>
            <a:ext cx="2606040" cy="2148840"/>
          </a:xfrm>
          <a:prstGeom prst="roundRect">
            <a:avLst>
              <a:gd name="adj" fmla="val 2979"/>
            </a:avLst>
          </a:prstGeom>
          <a:solidFill>
            <a:srgbClr val="FFFFFF"/>
          </a:solidFill>
          <a:ln w="12700">
            <a:solidFill>
              <a:srgbClr val="E1E7ED"/>
            </a:solidFill>
            <a:prstDash val="solid"/>
          </a:ln>
        </p:spPr>
      </p:sp>
      <p:sp>
        <p:nvSpPr>
          <p:cNvPr id="40" name="Shape 31"/>
          <p:cNvSpPr/>
          <p:nvPr/>
        </p:nvSpPr>
        <p:spPr>
          <a:xfrm>
            <a:off x="9870948" y="4050792"/>
            <a:ext cx="658368" cy="658368"/>
          </a:xfrm>
          <a:prstGeom prst="ellipse">
            <a:avLst/>
          </a:prstGeom>
          <a:solidFill>
            <a:srgbClr val="134074"/>
          </a:solidFill>
          <a:ln/>
        </p:spPr>
      </p:sp>
      <p:pic>
        <p:nvPicPr>
          <p:cNvPr id="41" name="Image 7" descr="/home/claude/icon_bolt.png"/>
          <p:cNvPicPr>
            <a:picLocks noChangeAspect="1"/>
          </p:cNvPicPr>
          <p:nvPr/>
        </p:nvPicPr>
        <p:blipFill>
          <a:blip r:embed="rId10"/>
          <a:stretch>
            <a:fillRect/>
          </a:stretch>
        </p:blipFill>
        <p:spPr>
          <a:xfrm>
            <a:off x="10035540" y="4215384"/>
            <a:ext cx="329184" cy="329184"/>
          </a:xfrm>
          <a:prstGeom prst="rect">
            <a:avLst/>
          </a:prstGeom>
        </p:spPr>
      </p:pic>
      <p:sp>
        <p:nvSpPr>
          <p:cNvPr id="42" name="Text 32"/>
          <p:cNvSpPr txBox="1"/>
          <p:nvPr/>
        </p:nvSpPr>
        <p:spPr>
          <a:xfrm>
            <a:off x="9006840" y="4818888"/>
            <a:ext cx="2386584" cy="457200"/>
          </a:xfrm>
          <a:prstGeom prst="rect">
            <a:avLst/>
          </a:prstGeom>
          <a:noFill/>
          <a:ln/>
        </p:spPr>
        <p:txBody>
          <a:bodyPr wrap="square" lIns="0" tIns="0" rIns="0" bIns="0" rtlCol="0" anchor="t"/>
          <a:lstStyle/>
          <a:p>
            <a:pPr marL="0" indent="0" algn="ctr">
              <a:lnSpc>
                <a:spcPct val="105000"/>
              </a:lnSpc>
              <a:buNone/>
            </a:pPr>
            <a:r>
              <a:rPr lang="en-US" sz="1200" b="1" dirty="0">
                <a:solidFill>
                  <a:srgbClr val="0B2545"/>
                </a:solidFill>
                <a:latin typeface="Calibri" pitchFamily="34" charset="0"/>
                <a:ea typeface="Calibri" pitchFamily="34" charset="-122"/>
                <a:cs typeface="Calibri" pitchFamily="34" charset="-120"/>
              </a:rPr>
              <a:t>Fault Tolerance &amp; Scale</a:t>
            </a:r>
            <a:endParaRPr lang="en-US" sz="1200" dirty="0"/>
          </a:p>
        </p:txBody>
      </p:sp>
      <p:sp>
        <p:nvSpPr>
          <p:cNvPr id="43" name="Text 33"/>
          <p:cNvSpPr txBox="1"/>
          <p:nvPr/>
        </p:nvSpPr>
        <p:spPr>
          <a:xfrm>
            <a:off x="9006840" y="5276088"/>
            <a:ext cx="2386584" cy="594360"/>
          </a:xfrm>
          <a:prstGeom prst="rect">
            <a:avLst/>
          </a:prstGeom>
          <a:noFill/>
          <a:ln/>
        </p:spPr>
        <p:txBody>
          <a:bodyPr wrap="square" lIns="0" tIns="0" rIns="0" bIns="0" rtlCol="0" anchor="t"/>
          <a:lstStyle/>
          <a:p>
            <a:pPr marL="0" indent="0" algn="ctr">
              <a:lnSpc>
                <a:spcPct val="110000"/>
              </a:lnSpc>
              <a:buNone/>
            </a:pPr>
            <a:r>
              <a:rPr lang="en-US" sz="980" dirty="0">
                <a:solidFill>
                  <a:srgbClr val="5B6B79"/>
                </a:solidFill>
                <a:latin typeface="Calibri" pitchFamily="34" charset="0"/>
                <a:ea typeface="Calibri" pitchFamily="34" charset="-122"/>
                <a:cs typeface="Calibri" pitchFamily="34" charset="-120"/>
              </a:rPr>
              <a:t>Monitoring for enterprise workloads</a:t>
            </a:r>
            <a:endParaRPr lang="en-US" sz="980" dirty="0"/>
          </a:p>
        </p:txBody>
      </p:sp>
      <p:sp>
        <p:nvSpPr>
          <p:cNvPr id="44" name="Text 3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Enterprise-Scale Real-Time E-Commerce Data Platform</a:t>
            </a:r>
            <a:endParaRPr lang="en-US" sz="900" dirty="0"/>
          </a:p>
        </p:txBody>
      </p:sp>
      <p:sp>
        <p:nvSpPr>
          <p:cNvPr id="45" name="Text 35"/>
          <p:cNvSpPr txBox="1"/>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pic>
        <p:nvPicPr>
          <p:cNvPr id="47" name="Picture 46">
            <a:extLst>
              <a:ext uri="{FF2B5EF4-FFF2-40B4-BE49-F238E27FC236}">
                <a16:creationId xmlns:a16="http://schemas.microsoft.com/office/drawing/2014/main" id="{7EEB657E-4D22-CC05-8E24-F07AF322EF12}"/>
              </a:ext>
            </a:extLst>
          </p:cNvPr>
          <p:cNvPicPr>
            <a:picLocks noChangeAspect="1"/>
          </p:cNvPicPr>
          <p:nvPr/>
        </p:nvPicPr>
        <p:blipFill>
          <a:blip r:embed="rId11"/>
          <a:stretch>
            <a:fillRect/>
          </a:stretch>
        </p:blipFill>
        <p:spPr>
          <a:xfrm>
            <a:off x="10995895" y="250643"/>
            <a:ext cx="868210" cy="5685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4" name="Shape 2"/>
          <p:cNvSpPr/>
          <p:nvPr/>
        </p:nvSpPr>
        <p:spPr>
          <a:xfrm>
            <a:off x="5637276" y="1965960"/>
            <a:ext cx="914400" cy="914400"/>
          </a:xfrm>
          <a:prstGeom prst="ellipse">
            <a:avLst/>
          </a:prstGeom>
          <a:solidFill>
            <a:srgbClr val="FF8C00"/>
          </a:solidFill>
          <a:ln/>
        </p:spPr>
      </p:sp>
      <p:pic>
        <p:nvPicPr>
          <p:cNvPr id="5" name="Image 0" descr="/home/claude/icon_bolt.png"/>
          <p:cNvPicPr>
            <a:picLocks noChangeAspect="1"/>
          </p:cNvPicPr>
          <p:nvPr/>
        </p:nvPicPr>
        <p:blipFill>
          <a:blip r:embed="rId3"/>
          <a:stretch>
            <a:fillRect/>
          </a:stretch>
        </p:blipFill>
        <p:spPr>
          <a:xfrm>
            <a:off x="5865876" y="2194560"/>
            <a:ext cx="457200" cy="457200"/>
          </a:xfrm>
          <a:prstGeom prst="rect">
            <a:avLst/>
          </a:prstGeom>
        </p:spPr>
      </p:pic>
      <p:sp>
        <p:nvSpPr>
          <p:cNvPr id="6" name="Text 3"/>
          <p:cNvSpPr txBox="1"/>
          <p:nvPr/>
        </p:nvSpPr>
        <p:spPr>
          <a:xfrm>
            <a:off x="0" y="3063240"/>
            <a:ext cx="12188952"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txBox="1"/>
          <p:nvPr/>
        </p:nvSpPr>
        <p:spPr>
          <a:xfrm>
            <a:off x="0" y="3840480"/>
            <a:ext cx="12188952" cy="41148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Questions &amp; Discussion</a:t>
            </a:r>
            <a:endParaRPr lang="en-US" sz="1600" dirty="0"/>
          </a:p>
        </p:txBody>
      </p:sp>
      <p:sp>
        <p:nvSpPr>
          <p:cNvPr id="8" name="Shape 5"/>
          <p:cNvSpPr/>
          <p:nvPr/>
        </p:nvSpPr>
        <p:spPr>
          <a:xfrm>
            <a:off x="4997196" y="4526280"/>
            <a:ext cx="2194560" cy="0"/>
          </a:xfrm>
          <a:prstGeom prst="line">
            <a:avLst/>
          </a:prstGeom>
          <a:noFill/>
          <a:ln w="25400">
            <a:solidFill>
              <a:srgbClr val="FF8C00"/>
            </a:solidFill>
            <a:prstDash val="solid"/>
          </a:ln>
        </p:spPr>
      </p:sp>
      <p:sp>
        <p:nvSpPr>
          <p:cNvPr id="9" name="Text 6"/>
          <p:cNvSpPr txBox="1"/>
          <p:nvPr/>
        </p:nvSpPr>
        <p:spPr>
          <a:xfrm>
            <a:off x="0" y="4754880"/>
            <a:ext cx="12188952" cy="320040"/>
          </a:xfrm>
          <a:prstGeom prst="rect">
            <a:avLst/>
          </a:prstGeom>
          <a:noFill/>
          <a:ln/>
        </p:spPr>
        <p:txBody>
          <a:bodyPr wrap="square" lIns="0" tIns="0" rIns="0" bIns="0" rtlCol="0" anchor="ctr"/>
          <a:lstStyle/>
          <a:p>
            <a:pPr marL="0" indent="0" algn="ctr">
              <a:buNone/>
            </a:pPr>
            <a:r>
              <a:rPr lang="en-US" sz="1250" dirty="0">
                <a:solidFill>
                  <a:srgbClr val="8DA9C4"/>
                </a:solidFill>
                <a:latin typeface="Calibri" pitchFamily="34" charset="0"/>
                <a:ea typeface="Calibri" pitchFamily="34" charset="-122"/>
                <a:cs typeface="Calibri" pitchFamily="34" charset="-120"/>
              </a:rPr>
              <a:t>T. Viswanath Reddy   •   Siril Punna   •   D. Kamal Kumar</a:t>
            </a:r>
            <a:endParaRPr lang="en-US" sz="1250" dirty="0"/>
          </a:p>
        </p:txBody>
      </p:sp>
      <p:sp>
        <p:nvSpPr>
          <p:cNvPr id="10" name="Text 7"/>
          <p:cNvSpPr txBox="1"/>
          <p:nvPr/>
        </p:nvSpPr>
        <p:spPr>
          <a:xfrm>
            <a:off x="0" y="5074920"/>
            <a:ext cx="12188952" cy="274320"/>
          </a:xfrm>
          <a:prstGeom prst="rect">
            <a:avLst/>
          </a:prstGeom>
          <a:noFill/>
          <a:ln/>
        </p:spPr>
        <p:txBody>
          <a:bodyPr wrap="square" lIns="0" tIns="0" rIns="0" bIns="0" rtlCol="0" anchor="ctr"/>
          <a:lstStyle/>
          <a:p>
            <a:pPr marL="0" indent="0" algn="ctr">
              <a:buNone/>
            </a:pPr>
            <a:r>
              <a:rPr lang="en-US" sz="1050" dirty="0">
                <a:solidFill>
                  <a:srgbClr val="5F7A9A"/>
                </a:solidFill>
                <a:latin typeface="Calibri" pitchFamily="34" charset="0"/>
                <a:ea typeface="Calibri" pitchFamily="34" charset="-122"/>
                <a:cs typeface="Calibri" pitchFamily="34" charset="-120"/>
              </a:rPr>
              <a:t>Team No. 9  |  Section 7  |  Fundamentals of Data Engineering – 24DEA3101R</a:t>
            </a:r>
            <a:endParaRPr lang="en-US" sz="1050" dirty="0"/>
          </a:p>
        </p:txBody>
      </p:sp>
      <p:pic>
        <p:nvPicPr>
          <p:cNvPr id="12" name="Picture 11">
            <a:extLst>
              <a:ext uri="{FF2B5EF4-FFF2-40B4-BE49-F238E27FC236}">
                <a16:creationId xmlns:a16="http://schemas.microsoft.com/office/drawing/2014/main" id="{03415A68-80CB-2081-B407-A5F6B8016055}"/>
              </a:ext>
            </a:extLst>
          </p:cNvPr>
          <p:cNvPicPr>
            <a:picLocks noChangeAspect="1"/>
          </p:cNvPicPr>
          <p:nvPr/>
        </p:nvPicPr>
        <p:blipFill>
          <a:blip r:embed="rId4"/>
          <a:stretch>
            <a:fillRect/>
          </a:stretch>
        </p:blipFill>
        <p:spPr>
          <a:xfrm>
            <a:off x="295811" y="298768"/>
            <a:ext cx="1099852" cy="7202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1007</Words>
  <Application>Microsoft Office PowerPoint</Application>
  <PresentationFormat>Widescreen</PresentationFormat>
  <Paragraphs>134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SIRIL PUNNA</cp:lastModifiedBy>
  <cp:revision>2</cp:revision>
  <dcterms:created xsi:type="dcterms:W3CDTF">2026-09-02T03:06:30Z</dcterms:created>
  <dcterms:modified xsi:type="dcterms:W3CDTF">2026-09-02T03:12:00Z</dcterms:modified>
</cp:coreProperties>
</file>