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5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75520" y="0"/>
            <a:ext cx="2313432" cy="1097280"/>
          </a:xfrm>
          <a:prstGeom prst="rect">
            <a:avLst/>
          </a:prstGeom>
          <a:solidFill>
            <a:srgbClr val="23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52760" y="914400"/>
            <a:ext cx="1536192" cy="1920240"/>
          </a:xfrm>
          <a:prstGeom prst="rect">
            <a:avLst/>
          </a:prstGeom>
          <a:solidFill>
            <a:srgbClr val="26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0" y="5394960"/>
            <a:ext cx="2221992" cy="1463040"/>
          </a:xfrm>
          <a:prstGeom prst="rect">
            <a:avLst/>
          </a:prstGeom>
          <a:solidFill>
            <a:srgbClr val="2DA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8961120" cy="594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26B5D3"/>
                </a:solidFill>
                <a:latin typeface="Aptos"/>
              </a:rPr>
              <a:t>ENTERPRISE-SCALE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241280" cy="6858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E-COMMERCE 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896112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E8EEF6"/>
                </a:solidFill>
                <a:latin typeface="Aptos"/>
              </a:rPr>
              <a:t>Real-Time Streaming • Batch Processing • Cloud Data Lake •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17520"/>
            <a:ext cx="310896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96A4B9"/>
                </a:solidFill>
                <a:latin typeface="Aptos"/>
              </a:rP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160520"/>
            <a:ext cx="182880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26B5D3"/>
                </a:solidFill>
                <a:latin typeface="Aptos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498848"/>
            <a:ext cx="5212080" cy="10515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2420030478  —  T. Viswanath Reddy
2420030300  —  Siril Punna
2420030290  —  D. Kamal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349240"/>
            <a:ext cx="3291840" cy="3657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Faculty: Dr. N Sirisha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96A4B9"/>
                </a:solidFill>
                <a:latin typeface="Aptos"/>
              </a:rPr>
              <a:t>01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FE476D-3CD1-80CA-5F8F-D1DFCC99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675" y="0"/>
            <a:ext cx="1076325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6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88136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96A4B9"/>
                </a:solidFill>
                <a:latin typeface="Aptos"/>
              </a:rPr>
              <a:t>Structured approach from requirements to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636776"/>
            <a:ext cx="3154680" cy="1691640"/>
          </a:xfrm>
          <a:prstGeom prst="roundRect">
            <a:avLst/>
          </a:prstGeom>
          <a:solidFill>
            <a:srgbClr val="162844"/>
          </a:solidFill>
          <a:ln>
            <a:solidFill>
              <a:srgbClr val="35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764792"/>
            <a:ext cx="41148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6B5D3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728216"/>
            <a:ext cx="2240280" cy="594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REQUIREMENT
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86584"/>
            <a:ext cx="2121409" cy="5216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E8EEF6"/>
                </a:solidFill>
                <a:latin typeface="Aptos"/>
              </a:rPr>
              <a:t>Identify data sources, business metrics, security and scalability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00200"/>
            <a:ext cx="3154680" cy="1691640"/>
          </a:xfrm>
          <a:prstGeom prst="roundRect">
            <a:avLst/>
          </a:prstGeom>
          <a:solidFill>
            <a:srgbClr val="162844"/>
          </a:solidFill>
          <a:ln>
            <a:solidFill>
              <a:srgbClr val="35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764792"/>
            <a:ext cx="41148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36ED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1728216"/>
            <a:ext cx="2240280" cy="594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SYSTEM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386584"/>
            <a:ext cx="2532888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E8EEF6"/>
                </a:solidFill>
                <a:latin typeface="Aptos"/>
              </a:rPr>
              <a:t>Define pipeline architecture, storage layers and processing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600200"/>
            <a:ext cx="3154680" cy="1691640"/>
          </a:xfrm>
          <a:prstGeom prst="roundRect">
            <a:avLst/>
          </a:prstGeom>
          <a:solidFill>
            <a:srgbClr val="162844"/>
          </a:solidFill>
          <a:ln>
            <a:solidFill>
              <a:srgbClr val="35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1764792"/>
            <a:ext cx="41148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EF9941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28216"/>
            <a:ext cx="2240280" cy="594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DATA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8" y="2386584"/>
            <a:ext cx="2395728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E8EEF6"/>
                </a:solidFill>
                <a:latin typeface="Aptos"/>
              </a:rPr>
              <a:t>Collect e-commerce events through Apache Kafka.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3154680" cy="1691640"/>
          </a:xfrm>
          <a:prstGeom prst="roundRect">
            <a:avLst/>
          </a:prstGeom>
          <a:solidFill>
            <a:srgbClr val="162844"/>
          </a:solidFill>
          <a:ln>
            <a:solidFill>
              <a:srgbClr val="35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4050791"/>
            <a:ext cx="41148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DAA73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014215"/>
            <a:ext cx="2240280" cy="594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672584"/>
            <a:ext cx="2020825" cy="5216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E8EEF6"/>
                </a:solidFill>
                <a:latin typeface="Aptos"/>
              </a:rPr>
              <a:t>Apply real-time processing with Spark Structured Streaming and batch workflows.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886200"/>
            <a:ext cx="3154680" cy="1691640"/>
          </a:xfrm>
          <a:prstGeom prst="roundRect">
            <a:avLst/>
          </a:prstGeom>
          <a:solidFill>
            <a:srgbClr val="162844"/>
          </a:solidFill>
          <a:ln>
            <a:solidFill>
              <a:srgbClr val="35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4050791"/>
            <a:ext cx="41148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6B5D3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4014215"/>
            <a:ext cx="2240280" cy="594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STORAGE &amp;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4672584"/>
            <a:ext cx="2304288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E8EEF6"/>
                </a:solidFill>
                <a:latin typeface="Aptos"/>
              </a:rPr>
              <a:t>Organize data using Bronze–Silver–Gold layers with validation.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3886200"/>
            <a:ext cx="3154680" cy="1691640"/>
          </a:xfrm>
          <a:prstGeom prst="roundRect">
            <a:avLst/>
          </a:prstGeom>
          <a:solidFill>
            <a:srgbClr val="162844"/>
          </a:solidFill>
          <a:ln>
            <a:solidFill>
              <a:srgbClr val="35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4050791"/>
            <a:ext cx="41148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236ED2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14215"/>
            <a:ext cx="2240280" cy="594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8" y="4672584"/>
            <a:ext cx="2395728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E8EEF6"/>
                </a:solidFill>
                <a:latin typeface="Aptos"/>
              </a:rPr>
              <a:t>Publish business-ready datasets and dashboards for decision support.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96A4B9"/>
                </a:solidFill>
                <a:latin typeface="Aptos"/>
              </a:rPr>
              <a:t>03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7D75532-1BA2-6E8D-881B-3BABDA65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675" y="0"/>
            <a:ext cx="1076325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SYSTEM DESIGN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6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5780" y="1088136"/>
            <a:ext cx="1088136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96A4B9"/>
                </a:solidFill>
                <a:latin typeface="Aptos"/>
              </a:rPr>
              <a:t>Unified real-time + batch data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6190488"/>
            <a:ext cx="841248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150" b="1" dirty="0">
                <a:solidFill>
                  <a:srgbClr val="96A4B9"/>
                </a:solidFill>
                <a:latin typeface="Aptos"/>
              </a:rPr>
              <a:t>Scalable storage • Fault tolerance • Data quality • Security •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96A4B9"/>
                </a:solidFill>
                <a:latin typeface="Aptos"/>
              </a:rPr>
              <a:t>04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4DD1B5D-A08B-DBBD-8311-EB6923D2E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198" y="1472184"/>
            <a:ext cx="7466524" cy="43708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C0EBD4-810C-26EA-1A5D-6A87312C8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675" y="0"/>
            <a:ext cx="1076325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USE OF MODERN TOOLS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6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88136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96A4B9"/>
                </a:solidFill>
                <a:latin typeface="Aptos"/>
              </a:rPr>
              <a:t>Technology stack mapped to each stage of the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3429000" cy="160020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64008" cy="1600200"/>
          </a:xfrm>
          <a:prstGeom prst="rect">
            <a:avLst/>
          </a:prstGeom>
          <a:solidFill>
            <a:srgbClr val="26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301752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3017520" cy="8503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8EEF6"/>
                </a:solidFill>
                <a:latin typeface="Aptos"/>
              </a:rPr>
              <a:t>Apache Kafka
Real-time event collection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72768"/>
            <a:ext cx="3429000" cy="160020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572768"/>
            <a:ext cx="64008" cy="1600200"/>
          </a:xfrm>
          <a:prstGeom prst="rect">
            <a:avLst/>
          </a:prstGeom>
          <a:solidFill>
            <a:srgbClr val="EF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55648"/>
            <a:ext cx="301752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3017520" cy="8503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8EEF6"/>
                </a:solidFill>
                <a:latin typeface="Aptos"/>
              </a:rPr>
              <a:t>Apache Spark
Structured Streaming for live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72768"/>
            <a:ext cx="3429000" cy="160020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572768"/>
            <a:ext cx="64008" cy="1600200"/>
          </a:xfrm>
          <a:prstGeom prst="rect">
            <a:avLst/>
          </a:prstGeom>
          <a:solidFill>
            <a:srgbClr val="2DA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755648"/>
            <a:ext cx="301752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94560"/>
            <a:ext cx="3017520" cy="8503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8EEF6"/>
                </a:solidFill>
                <a:latin typeface="Aptos"/>
              </a:rPr>
              <a:t>Apache Airflow
Automates batch workflows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30168"/>
            <a:ext cx="3429000" cy="160020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630168"/>
            <a:ext cx="64008" cy="1600200"/>
          </a:xfrm>
          <a:prstGeom prst="rect">
            <a:avLst/>
          </a:prstGeom>
          <a:solidFill>
            <a:srgbClr val="23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813048"/>
            <a:ext cx="301752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DATA LAKE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51959"/>
            <a:ext cx="3017520" cy="8503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8EEF6"/>
                </a:solidFill>
                <a:latin typeface="Aptos"/>
              </a:rPr>
              <a:t>Amazon S3
Scalable cloud-based raw and processed storage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630168"/>
            <a:ext cx="3429000" cy="160020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630168"/>
            <a:ext cx="64008" cy="1600200"/>
          </a:xfrm>
          <a:prstGeom prst="rect">
            <a:avLst/>
          </a:prstGeom>
          <a:solidFill>
            <a:srgbClr val="26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813048"/>
            <a:ext cx="301752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WAREHOUSE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51959"/>
            <a:ext cx="3017520" cy="8503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8EEF6"/>
                </a:solidFill>
                <a:latin typeface="Aptos"/>
              </a:rPr>
              <a:t>Redshift / Snowflake
Business-ready analytical datasets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630168"/>
            <a:ext cx="3429000" cy="160020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630168"/>
            <a:ext cx="64008" cy="1600200"/>
          </a:xfrm>
          <a:prstGeom prst="rect">
            <a:avLst/>
          </a:prstGeom>
          <a:solidFill>
            <a:srgbClr val="2DA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3813048"/>
            <a:ext cx="301752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251959"/>
            <a:ext cx="3017520" cy="8503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8EEF6"/>
                </a:solidFill>
                <a:latin typeface="Aptos"/>
              </a:rPr>
              <a:t>Power BI / Tableau
Interactive analytics dashboards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06440"/>
            <a:ext cx="10149840" cy="3657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150" b="1">
                <a:solidFill>
                  <a:srgbClr val="E8EEF6"/>
                </a:solidFill>
                <a:latin typeface="Aptos"/>
              </a:rPr>
              <a:t>Core principle: choose purpose-built technologies for ingestion, processing, storage, orchestration and analytics.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96A4B9"/>
                </a:solidFill>
                <a:latin typeface="Aptos"/>
              </a:rPr>
              <a:t>05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307BEB9-E27D-0C31-BAC7-82B534432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675" y="0"/>
            <a:ext cx="1076325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F0B4D9-E31D-F7A7-96E9-001E7D074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56655" cy="685800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14C2B1-53DC-0BD3-3705-AD2EAE021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675" y="0"/>
            <a:ext cx="1076325" cy="704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E451F9-E69A-54A6-0863-897940B86BE5}"/>
              </a:ext>
            </a:extLst>
          </p:cNvPr>
          <p:cNvSpPr txBox="1"/>
          <p:nvPr/>
        </p:nvSpPr>
        <p:spPr>
          <a:xfrm>
            <a:off x="101600" y="581891"/>
            <a:ext cx="3240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3AB24D-DACF-4435-5286-C35DA4451F11}"/>
              </a:ext>
            </a:extLst>
          </p:cNvPr>
          <p:cNvSpPr/>
          <p:nvPr/>
        </p:nvSpPr>
        <p:spPr>
          <a:xfrm>
            <a:off x="206248" y="1085899"/>
            <a:ext cx="822960" cy="54864"/>
          </a:xfrm>
          <a:prstGeom prst="rect">
            <a:avLst/>
          </a:prstGeom>
          <a:solidFill>
            <a:srgbClr val="26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4F314E-0B3E-0228-2288-6873AD3E5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3749" y="1538819"/>
            <a:ext cx="8597069" cy="488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88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008248" cy="4678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800" b="1" dirty="0">
                <a:solidFill>
                  <a:srgbClr val="F8FAFC"/>
                </a:solidFill>
                <a:latin typeface="Aptos"/>
              </a:rPr>
              <a:t>CODING QUALITY &amp; FUNCTIONALITY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6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88136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96A4B9"/>
                </a:solidFill>
                <a:latin typeface="Aptos"/>
              </a:rPr>
              <a:t>How the proposed platform is organized for reliable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1872" y="1499616"/>
            <a:ext cx="3520440" cy="425196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61872" y="1490472"/>
            <a:ext cx="64008" cy="4251960"/>
          </a:xfrm>
          <a:prstGeom prst="rect">
            <a:avLst/>
          </a:prstGeom>
          <a:solidFill>
            <a:srgbClr val="26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99616" y="1856232"/>
            <a:ext cx="310896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CODING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7612" y="2487168"/>
            <a:ext cx="3108960" cy="35021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 dirty="0">
                <a:solidFill>
                  <a:srgbClr val="E8EEF6"/>
                </a:solidFill>
                <a:latin typeface="Aptos"/>
              </a:rPr>
              <a:t>• Modular pipeline components
• Clear separation of responsibilities
• Reusable transformations
• Data validation and quality checks
• Logging and monitoring
• Fault-tolerant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63156" y="1545336"/>
            <a:ext cx="3520440" cy="425196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31152" y="1499616"/>
            <a:ext cx="64008" cy="4251960"/>
          </a:xfrm>
          <a:prstGeom prst="rect">
            <a:avLst/>
          </a:prstGeom>
          <a:solidFill>
            <a:srgbClr val="2DA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68896" y="1897380"/>
            <a:ext cx="310896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 dirty="0">
                <a:solidFill>
                  <a:srgbClr val="F8FAFC"/>
                </a:solidFill>
                <a:latin typeface="Aptos"/>
              </a:rPr>
              <a:t>FUNCTIONALITY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4898" y="2487168"/>
            <a:ext cx="3108960" cy="35021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 dirty="0">
                <a:solidFill>
                  <a:srgbClr val="E8EEF6"/>
                </a:solidFill>
                <a:latin typeface="Aptos"/>
              </a:rPr>
              <a:t>• Real-time event processing
• Batch + streaming integration
• Revenue and order analytics
• Customer activity analysis
• Product and inventory monitoring
• Dashboard-ready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96A4B9"/>
                </a:solidFill>
                <a:latin typeface="Aptos"/>
              </a:rPr>
              <a:t>06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EF9EF12-D1C0-76D2-6AB8-4F8EAF764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675" y="0"/>
            <a:ext cx="1076325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END-TO-END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6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88136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96A4B9"/>
                </a:solidFill>
                <a:latin typeface="Aptos"/>
              </a:rPr>
              <a:t>From raw e-commerce events to actionable business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" y="2148840"/>
            <a:ext cx="18288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3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DATA SOURCES
Clicks • Products • Orders • Payments • Inventory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47672" y="2770632"/>
            <a:ext cx="292608" cy="0"/>
          </a:xfrm>
          <a:prstGeom prst="line">
            <a:avLst/>
          </a:prstGeom>
          <a:ln w="25400">
            <a:solidFill>
              <a:srgbClr val="26B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2148840"/>
            <a:ext cx="18288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6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INGEST
Kafka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2770632"/>
            <a:ext cx="292608" cy="0"/>
          </a:xfrm>
          <a:prstGeom prst="line">
            <a:avLst/>
          </a:prstGeom>
          <a:ln w="25400">
            <a:solidFill>
              <a:srgbClr val="26B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61688" y="2185416"/>
            <a:ext cx="196596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EF9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PROCESS
Spark Streaming + Airflow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27648" y="2784348"/>
            <a:ext cx="292608" cy="0"/>
          </a:xfrm>
          <a:prstGeom prst="line">
            <a:avLst/>
          </a:prstGeom>
          <a:ln w="25400">
            <a:solidFill>
              <a:srgbClr val="26B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20256" y="2157984"/>
            <a:ext cx="196596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8FAFC"/>
                </a:solidFill>
                <a:latin typeface="Aptos"/>
              </a:rPr>
              <a:t>STORE
S3 + Bronze/Silver/Gold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86216" y="2784348"/>
            <a:ext cx="292608" cy="0"/>
          </a:xfrm>
          <a:prstGeom prst="line">
            <a:avLst/>
          </a:prstGeom>
          <a:ln w="25400">
            <a:solidFill>
              <a:srgbClr val="26B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78824" y="2148840"/>
            <a:ext cx="18288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6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8FAFC"/>
                </a:solidFill>
                <a:latin typeface="Aptos"/>
              </a:rPr>
              <a:t>ANALYZE
Warehouse + SQL</a:t>
            </a:r>
          </a:p>
        </p:txBody>
      </p:sp>
      <p:cxnSp>
        <p:nvCxnSpPr>
          <p:cNvPr id="14" name="Connector 13"/>
          <p:cNvCxnSpPr>
            <a:cxnSpLocks/>
            <a:endCxn id="15" idx="2"/>
          </p:cNvCxnSpPr>
          <p:nvPr/>
        </p:nvCxnSpPr>
        <p:spPr>
          <a:xfrm flipV="1">
            <a:off x="10707624" y="1971676"/>
            <a:ext cx="569976" cy="884681"/>
          </a:xfrm>
          <a:prstGeom prst="line">
            <a:avLst/>
          </a:prstGeom>
          <a:ln w="25400">
            <a:solidFill>
              <a:srgbClr val="26B5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363200" y="737236"/>
            <a:ext cx="1828800" cy="1234440"/>
          </a:xfrm>
          <a:prstGeom prst="roundRect">
            <a:avLst/>
          </a:prstGeom>
          <a:solidFill>
            <a:srgbClr val="192F4F"/>
          </a:solidFill>
          <a:ln>
            <a:solidFill>
              <a:srgbClr val="23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VISUALIZE
Power BI / Tableau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37744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26B5D3"/>
                </a:solidFill>
                <a:latin typeface="Aptos"/>
              </a:rPr>
              <a:t>KEY BUSINESS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3337560" cy="50292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663440"/>
            <a:ext cx="301752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E8EEF6"/>
                </a:solidFill>
                <a:latin typeface="Aptos"/>
              </a:rPr>
              <a:t>Sales 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4572000"/>
            <a:ext cx="3337560" cy="50292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4663440"/>
            <a:ext cx="301752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E8EEF6"/>
                </a:solidFill>
                <a:latin typeface="Aptos"/>
              </a:rPr>
              <a:t>Order Volume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572000"/>
            <a:ext cx="3337560" cy="50292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4663440"/>
            <a:ext cx="301752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E8EEF6"/>
                </a:solidFill>
                <a:latin typeface="Aptos"/>
              </a:rPr>
              <a:t>Customer Activity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49240"/>
            <a:ext cx="3337560" cy="50292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440679"/>
            <a:ext cx="301752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E8EEF6"/>
                </a:solidFill>
                <a:latin typeface="Aptos"/>
              </a:rPr>
              <a:t>Product Performance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5349240"/>
            <a:ext cx="3337560" cy="50292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5440679"/>
            <a:ext cx="301752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E8EEF6"/>
                </a:solidFill>
                <a:latin typeface="Aptos"/>
              </a:rPr>
              <a:t>Inventory Levels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5349240"/>
            <a:ext cx="3337560" cy="502920"/>
          </a:xfrm>
          <a:prstGeom prst="roundRect">
            <a:avLst/>
          </a:prstGeom>
          <a:solidFill>
            <a:srgbClr val="162844"/>
          </a:solidFill>
          <a:ln>
            <a:solidFill>
              <a:srgbClr val="31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5440679"/>
            <a:ext cx="301752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E8EEF6"/>
                </a:solidFill>
                <a:latin typeface="Aptos"/>
              </a:rPr>
              <a:t>Conversion &amp; Cart Abandonment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96A4B9"/>
                </a:solidFill>
                <a:latin typeface="Aptos"/>
              </a:rPr>
              <a:t>07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2E1CDC4-4134-0739-7C24-58DB39EBF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675" y="0"/>
            <a:ext cx="1076325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57400"/>
            <a:ext cx="10698480" cy="8229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40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71800"/>
            <a:ext cx="941832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26B5D3"/>
                </a:solidFill>
                <a:latin typeface="Aptos"/>
              </a:rPr>
              <a:t>Enterprise-Scale E-Commerce Data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200" b="0">
                <a:solidFill>
                  <a:srgbClr val="96A4B9"/>
                </a:solidFill>
                <a:latin typeface="Aptos"/>
              </a:rPr>
              <a:t>T. Viswanath Reddy  •  Siril Punna  •  D. Kamal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900" b="1">
                <a:solidFill>
                  <a:srgbClr val="96A4B9"/>
                </a:solidFill>
                <a:latin typeface="Aptos"/>
              </a:rPr>
              <a:t>09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824ACC-1F76-A794-FAE5-E010054D4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675" y="0"/>
            <a:ext cx="1076325" cy="704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406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VISWANATH REDDY</cp:lastModifiedBy>
  <cp:revision>4</cp:revision>
  <dcterms:created xsi:type="dcterms:W3CDTF">2013-01-27T09:14:16Z</dcterms:created>
  <dcterms:modified xsi:type="dcterms:W3CDTF">2026-09-19T04:43:42Z</dcterms:modified>
  <cp:category/>
</cp:coreProperties>
</file>